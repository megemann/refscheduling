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3"/>
  </p:notesMasterIdLst>
  <p:sldIdLst>
    <p:sldId id="298" r:id="rId5"/>
    <p:sldId id="299" r:id="rId6"/>
    <p:sldId id="300" r:id="rId7"/>
    <p:sldId id="302" r:id="rId8"/>
    <p:sldId id="301" r:id="rId9"/>
    <p:sldId id="303" r:id="rId10"/>
    <p:sldId id="304" r:id="rId11"/>
    <p:sldId id="3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F5F9ACFE-2539-AF40-85B6-7C7CEA7FE32D}">
          <p14:sldIdLst/>
        </p14:section>
        <p14:section name="Sample Slides" id="{29415E66-4D13-9D46-BCA2-B8816B01D9F9}">
          <p14:sldIdLst>
            <p14:sldId id="298"/>
            <p14:sldId id="299"/>
            <p14:sldId id="300"/>
            <p14:sldId id="302"/>
            <p14:sldId id="301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12E58B-C6EE-1FAD-5656-C83A3AE4382B}" name="Jennifer Hariman" initials="JH" userId="S::jennifer@stinson.co::96ed55f2-9198-4e97-8455-a72a1e4bd3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1C1C"/>
    <a:srgbClr val="FFFFFF"/>
    <a:srgbClr val="A2AAAD"/>
    <a:srgbClr val="505759"/>
    <a:srgbClr val="D6D6D6"/>
    <a:srgbClr val="282828"/>
    <a:srgbClr val="771818"/>
    <a:srgbClr val="E7D2D1"/>
    <a:srgbClr val="FDEEEE"/>
    <a:srgbClr val="FC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92"/>
    <p:restoredTop sz="93108"/>
  </p:normalViewPr>
  <p:slideViewPr>
    <p:cSldViewPr snapToGrid="0">
      <p:cViewPr>
        <p:scale>
          <a:sx n="92" d="100"/>
          <a:sy n="92" d="100"/>
        </p:scale>
        <p:origin x="-20" y="2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54BBD-EE59-2B45-A253-6D857901740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80B6F-FBEC-7046-B5AA-BCDE96530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51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3B41-2256-791E-F740-853B5928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DB13F-89E8-7982-78E9-F383B3018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EF48C-802F-4D3A-98DA-FD3067663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B8C0E-0C09-4F2A-34D4-7AF1864FB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0B6F-FBEC-7046-B5AA-BCDE96530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70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6A31-3408-E945-62A8-514AAD87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45304-7381-BA81-4620-C1075EBF9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AA5BA-2D05-B733-841E-10492B4AC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5AA27-5A9A-5D4C-EFE4-9DD948E6F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0B6F-FBEC-7046-B5AA-BCDE96530F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5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B1A39-CFC6-D0AF-2621-9AB45849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5854C-275E-EE79-1679-364F4B42A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CCD13-5EFB-17D5-590F-6580C11E0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27984-7367-849D-93C4-0F147FA71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0B6F-FBEC-7046-B5AA-BCDE96530F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59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00F9-8D45-7FDF-3990-3C4B7A54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8A184-F788-5B76-E852-8A87636E4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7EFC0-93F0-2B8F-1E22-234111C6C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B2D09-22B8-0FE2-D07D-CB6F5CFA0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0B6F-FBEC-7046-B5AA-BCDE96530F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91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8E3AC-D876-E8ED-4DBE-87E75D25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B016E-7DD8-03A6-DFB7-740F7B358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478C7-B73E-5331-DF2D-FAF43A558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1707C-7672-40D9-AB9F-D418F7AB5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0B6F-FBEC-7046-B5AA-BCDE96530F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87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7B96-F859-C409-EFBB-EF6A765E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374B5-C9A5-867C-DC4C-888552AAB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4F01E-AEF2-EE85-1471-C5C05DCA4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D8FC4-0F3C-1B7C-5354-3CD7E2161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0B6F-FBEC-7046-B5AA-BCDE96530F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53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0B6F-FBEC-7046-B5AA-BCDE96530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83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3A80-020E-1BF5-47DF-44656651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09DC3-9A74-EA9F-8F9F-720AB19FE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A7F64-84EC-F77C-258F-77BCE9A95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D1ED9-7661-A0C8-7BC7-790B78E14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80B6F-FBEC-7046-B5AA-BCDE96530F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4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88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75C9A5-9898-62DD-85ED-8D9383084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771" y="4577105"/>
            <a:ext cx="10314840" cy="1588127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Up to Two Lines Long</a:t>
            </a:r>
          </a:p>
        </p:txBody>
      </p:sp>
      <p:sp>
        <p:nvSpPr>
          <p:cNvPr id="16" name="date">
            <a:extLst>
              <a:ext uri="{FF2B5EF4-FFF2-40B4-BE49-F238E27FC236}">
                <a16:creationId xmlns:a16="http://schemas.microsoft.com/office/drawing/2014/main" id="{AE8CB0A5-3E17-39DE-1723-72AE9C4525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9771" y="6275212"/>
            <a:ext cx="10314839" cy="242729"/>
          </a:xfrm>
        </p:spPr>
        <p:txBody>
          <a:bodyPr lIns="72000" anchor="ctr">
            <a:noAutofit/>
          </a:bodyPr>
          <a:lstStyle>
            <a:lvl1pPr marL="0" indent="0">
              <a:buNone/>
              <a:defRPr sz="1400" b="0" i="0" cap="all" spc="14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b="1" i="0" cap="all" spc="100" baseline="0">
                <a:solidFill>
                  <a:schemeClr val="accent2"/>
                </a:solidFill>
                <a:latin typeface="Helvetica" pitchFamily="2" charset="0"/>
              </a:defRPr>
            </a:lvl2pPr>
            <a:lvl3pPr marL="914400" indent="0">
              <a:buNone/>
              <a:defRPr b="1" i="0" cap="all" spc="100" baseline="0">
                <a:solidFill>
                  <a:schemeClr val="accent2"/>
                </a:solidFill>
                <a:latin typeface="Helvetica" pitchFamily="2" charset="0"/>
              </a:defRPr>
            </a:lvl3pPr>
            <a:lvl4pPr marL="1371600" indent="0">
              <a:buNone/>
              <a:defRPr b="1" i="0" cap="all" spc="100" baseline="0">
                <a:solidFill>
                  <a:schemeClr val="accent2"/>
                </a:solidFill>
                <a:latin typeface="Helvetica" pitchFamily="2" charset="0"/>
              </a:defRPr>
            </a:lvl4pPr>
            <a:lvl5pPr marL="1828800" indent="0">
              <a:buNone/>
              <a:defRPr b="1" i="0" cap="all" spc="100" baseline="0">
                <a:solidFill>
                  <a:schemeClr val="accent2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13878F5-A046-B14C-98B2-7AE1EA634F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30599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PICTURE HERE</a:t>
            </a:r>
          </a:p>
        </p:txBody>
      </p:sp>
      <p:pic>
        <p:nvPicPr>
          <p:cNvPr id="2" name="Picture 1" descr="UMass Collegiate M">
            <a:extLst>
              <a:ext uri="{FF2B5EF4-FFF2-40B4-BE49-F238E27FC236}">
                <a16:creationId xmlns:a16="http://schemas.microsoft.com/office/drawing/2014/main" id="{5608E2AE-C2EF-DF6D-7FBF-CAA2B88E4A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491" y="5977408"/>
            <a:ext cx="564814" cy="47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50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Gray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75C9A5-9898-62DD-85ED-8D9383084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771" y="4577105"/>
            <a:ext cx="10314840" cy="1588127"/>
          </a:xfrm>
        </p:spPr>
        <p:txBody>
          <a:bodyPr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Up to Two Lines Long</a:t>
            </a:r>
          </a:p>
        </p:txBody>
      </p:sp>
      <p:sp>
        <p:nvSpPr>
          <p:cNvPr id="16" name="date">
            <a:extLst>
              <a:ext uri="{FF2B5EF4-FFF2-40B4-BE49-F238E27FC236}">
                <a16:creationId xmlns:a16="http://schemas.microsoft.com/office/drawing/2014/main" id="{AE8CB0A5-3E17-39DE-1723-72AE9C4525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9771" y="6275212"/>
            <a:ext cx="10314839" cy="242729"/>
          </a:xfrm>
        </p:spPr>
        <p:txBody>
          <a:bodyPr lIns="72000" anchor="ctr">
            <a:noAutofit/>
          </a:bodyPr>
          <a:lstStyle>
            <a:lvl1pPr marL="0" indent="0">
              <a:buNone/>
              <a:defRPr sz="1400" b="0" i="0" cap="all" spc="140" baseline="0">
                <a:solidFill>
                  <a:srgbClr val="5057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b="1" i="0" cap="all" spc="100" baseline="0">
                <a:solidFill>
                  <a:schemeClr val="accent2"/>
                </a:solidFill>
                <a:latin typeface="Helvetica" pitchFamily="2" charset="0"/>
              </a:defRPr>
            </a:lvl2pPr>
            <a:lvl3pPr marL="914400" indent="0">
              <a:buNone/>
              <a:defRPr b="1" i="0" cap="all" spc="100" baseline="0">
                <a:solidFill>
                  <a:schemeClr val="accent2"/>
                </a:solidFill>
                <a:latin typeface="Helvetica" pitchFamily="2" charset="0"/>
              </a:defRPr>
            </a:lvl3pPr>
            <a:lvl4pPr marL="1371600" indent="0">
              <a:buNone/>
              <a:defRPr b="1" i="0" cap="all" spc="100" baseline="0">
                <a:solidFill>
                  <a:schemeClr val="accent2"/>
                </a:solidFill>
                <a:latin typeface="Helvetica" pitchFamily="2" charset="0"/>
              </a:defRPr>
            </a:lvl4pPr>
            <a:lvl5pPr marL="1828800" indent="0">
              <a:buNone/>
              <a:defRPr b="1" i="0" cap="all" spc="100" baseline="0">
                <a:solidFill>
                  <a:schemeClr val="accent2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13878F5-A046-B14C-98B2-7AE1EA634F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30599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PICTURE HERE</a:t>
            </a:r>
          </a:p>
        </p:txBody>
      </p:sp>
      <p:pic>
        <p:nvPicPr>
          <p:cNvPr id="2" name="Picture 1" descr="UMass Collegiate M">
            <a:extLst>
              <a:ext uri="{FF2B5EF4-FFF2-40B4-BE49-F238E27FC236}">
                <a16:creationId xmlns:a16="http://schemas.microsoft.com/office/drawing/2014/main" id="{5608E2AE-C2EF-DF6D-7FBF-CAA2B88E4A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491" y="5977408"/>
            <a:ext cx="564814" cy="47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32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E51E-3F62-D187-DDA6-BE053BF64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771" y="2483708"/>
            <a:ext cx="8371234" cy="1918327"/>
          </a:xfrm>
        </p:spPr>
        <p:txBody>
          <a:bodyPr lIns="108000" anchor="b" anchorCtr="0"/>
          <a:lstStyle>
            <a:lvl1pPr>
              <a:defRPr sz="6000">
                <a:solidFill>
                  <a:srgbClr val="881C1C"/>
                </a:solidFill>
              </a:defRPr>
            </a:lvl1pPr>
          </a:lstStyle>
          <a:p>
            <a:r>
              <a:rPr lang="en-US" dirty="0"/>
              <a:t>Divider Title, </a:t>
            </a:r>
            <a:br>
              <a:rPr lang="en-US" dirty="0"/>
            </a:br>
            <a:r>
              <a:rPr lang="en-US" dirty="0"/>
              <a:t>Up to Two Lines Long</a:t>
            </a:r>
          </a:p>
        </p:txBody>
      </p:sp>
      <p:sp>
        <p:nvSpPr>
          <p:cNvPr id="11" name="Presenter name">
            <a:extLst>
              <a:ext uri="{FF2B5EF4-FFF2-40B4-BE49-F238E27FC236}">
                <a16:creationId xmlns:a16="http://schemas.microsoft.com/office/drawing/2014/main" id="{0C6764F8-1F9A-CFC0-69D2-3989DC7032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771" y="4506686"/>
            <a:ext cx="8371234" cy="1411514"/>
          </a:xfrm>
        </p:spPr>
        <p:txBody>
          <a:bodyPr lIns="72000" anchor="t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  <a:latin typeface="Helvetica" pitchFamily="2" charset="0"/>
              </a:defRPr>
            </a:lvl3pPr>
            <a:lvl4pPr marL="1371600" indent="0">
              <a:buNone/>
              <a:defRPr sz="2800">
                <a:solidFill>
                  <a:schemeClr val="bg1"/>
                </a:solidFill>
                <a:latin typeface="Helvetica" pitchFamily="2" charset="0"/>
              </a:defRPr>
            </a:lvl4pPr>
            <a:lvl5pPr marL="1828800" indent="0">
              <a:buNone/>
              <a:defRPr sz="2800">
                <a:solidFill>
                  <a:schemeClr val="bg1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Subtitle/Secondary Text</a:t>
            </a:r>
          </a:p>
        </p:txBody>
      </p:sp>
      <p:pic>
        <p:nvPicPr>
          <p:cNvPr id="9" name="Picture 8" descr="University of Massachusetts Amherst Seal">
            <a:extLst>
              <a:ext uri="{FF2B5EF4-FFF2-40B4-BE49-F238E27FC236}">
                <a16:creationId xmlns:a16="http://schemas.microsoft.com/office/drawing/2014/main" id="{DAD6F783-EE27-8592-1502-9881106B37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60" y="502920"/>
            <a:ext cx="5852160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24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258">
            <a:extLst>
              <a:ext uri="{FF2B5EF4-FFF2-40B4-BE49-F238E27FC236}">
                <a16:creationId xmlns:a16="http://schemas.microsoft.com/office/drawing/2014/main" id="{CAB1587A-31E4-DF32-A56C-F8F1EC4DB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882887" cy="6858000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4CE7D0-2298-862D-D9EE-A17138E12F78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>
          <a:xfrm>
            <a:off x="11466065" y="343417"/>
            <a:ext cx="462988" cy="590931"/>
          </a:xfrm>
          <a:prstGeom prst="rect">
            <a:avLst/>
          </a:prstGeom>
        </p:spPr>
        <p:txBody>
          <a:bodyPr/>
          <a:lstStyle/>
          <a:p>
            <a:fld id="{1384340B-8AF4-0045-985F-0107ADAFE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9452B6-BE6D-11B8-5A60-933D8A9FB2D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34963" y="1568661"/>
            <a:ext cx="3256376" cy="2436442"/>
          </a:xfrm>
          <a:solidFill>
            <a:schemeClr val="tx2"/>
          </a:solidFill>
        </p:spPr>
        <p:txBody>
          <a:bodyPr lIns="90000" tIns="46800" rIns="288000" bIns="46800" anchor="t">
            <a:noAutofit/>
          </a:bodyPr>
          <a:lstStyle>
            <a:lvl1pPr marL="7938" indent="0">
              <a:buNone/>
              <a:defRPr sz="3600" b="1">
                <a:solidFill>
                  <a:schemeClr val="bg1"/>
                </a:solidFill>
              </a:defRPr>
            </a:lvl1pPr>
            <a:lvl2pPr marL="13493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Agenda Title, Up to Three Lines Long</a:t>
            </a:r>
          </a:p>
        </p:txBody>
      </p:sp>
      <p:sp>
        <p:nvSpPr>
          <p:cNvPr id="34" name="Number 1">
            <a:extLst>
              <a:ext uri="{FF2B5EF4-FFF2-40B4-BE49-F238E27FC236}">
                <a16:creationId xmlns:a16="http://schemas.microsoft.com/office/drawing/2014/main" id="{407B0BB9-1B9E-91F8-38EE-CD68A1D58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1874" y="1539875"/>
            <a:ext cx="653805" cy="442913"/>
          </a:xfrm>
        </p:spPr>
        <p:txBody>
          <a:bodyPr tIns="108000" bIns="10800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2000"/>
              </a:spcAft>
              <a:buNone/>
              <a:defRPr sz="2000" b="1" i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2DFA950B-1A69-5BB3-950B-AFB9F527C9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28591" y="1539875"/>
            <a:ext cx="6728446" cy="442913"/>
          </a:xfrm>
        </p:spPr>
        <p:txBody>
          <a:bodyPr tIns="108000" bIns="108000" anchor="ctr">
            <a:noAutofit/>
          </a:bodyPr>
          <a:lstStyle>
            <a:lvl1pPr marL="0" indent="0">
              <a:spcBef>
                <a:spcPts val="1600"/>
              </a:spcBef>
              <a:spcAft>
                <a:spcPts val="160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 b="0" i="0">
                <a:latin typeface="Helvetica Light" panose="020B0403020202020204" pitchFamily="34" charset="0"/>
              </a:defRPr>
            </a:lvl2pPr>
            <a:lvl3pPr marL="914400" indent="0">
              <a:buNone/>
              <a:defRPr sz="1600" b="0" i="0">
                <a:latin typeface="Helvetica Light" panose="020B0403020202020204" pitchFamily="34" charset="0"/>
              </a:defRPr>
            </a:lvl3pPr>
            <a:lvl4pPr marL="1371600" indent="0">
              <a:buNone/>
              <a:defRPr sz="1600" b="0" i="0">
                <a:latin typeface="Helvetica Light" panose="020B0403020202020204" pitchFamily="34" charset="0"/>
              </a:defRPr>
            </a:lvl4pPr>
            <a:lvl5pPr marL="1828800" indent="0">
              <a:buNone/>
              <a:defRPr sz="16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Agenda Item 1</a:t>
            </a:r>
          </a:p>
        </p:txBody>
      </p:sp>
      <p:sp>
        <p:nvSpPr>
          <p:cNvPr id="24" name="Number 1">
            <a:extLst>
              <a:ext uri="{FF2B5EF4-FFF2-40B4-BE49-F238E27FC236}">
                <a16:creationId xmlns:a16="http://schemas.microsoft.com/office/drawing/2014/main" id="{E3145577-2BA7-9790-4E0B-B862E36116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51874" y="2213980"/>
            <a:ext cx="653805" cy="442913"/>
          </a:xfrm>
        </p:spPr>
        <p:txBody>
          <a:bodyPr tIns="108000" bIns="10800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2000"/>
              </a:spcAft>
              <a:buNone/>
              <a:defRPr sz="2000" b="1" i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BDC5AC0B-BC20-DC00-BD18-323B318DF54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28591" y="2213980"/>
            <a:ext cx="6728446" cy="442913"/>
          </a:xfrm>
        </p:spPr>
        <p:txBody>
          <a:bodyPr tIns="108000" bIns="108000" anchor="ctr">
            <a:noAutofit/>
          </a:bodyPr>
          <a:lstStyle>
            <a:lvl1pPr marL="0" indent="0">
              <a:spcBef>
                <a:spcPts val="1600"/>
              </a:spcBef>
              <a:spcAft>
                <a:spcPts val="160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 b="0" i="0">
                <a:latin typeface="Helvetica Light" panose="020B0403020202020204" pitchFamily="34" charset="0"/>
              </a:defRPr>
            </a:lvl2pPr>
            <a:lvl3pPr marL="914400" indent="0">
              <a:buNone/>
              <a:defRPr sz="1600" b="0" i="0">
                <a:latin typeface="Helvetica Light" panose="020B0403020202020204" pitchFamily="34" charset="0"/>
              </a:defRPr>
            </a:lvl3pPr>
            <a:lvl4pPr marL="1371600" indent="0">
              <a:buNone/>
              <a:defRPr sz="1600" b="0" i="0">
                <a:latin typeface="Helvetica Light" panose="020B0403020202020204" pitchFamily="34" charset="0"/>
              </a:defRPr>
            </a:lvl4pPr>
            <a:lvl5pPr marL="1828800" indent="0">
              <a:buNone/>
              <a:defRPr sz="16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Agenda Item 2</a:t>
            </a:r>
          </a:p>
        </p:txBody>
      </p:sp>
      <p:sp>
        <p:nvSpPr>
          <p:cNvPr id="33" name="Number 1">
            <a:extLst>
              <a:ext uri="{FF2B5EF4-FFF2-40B4-BE49-F238E27FC236}">
                <a16:creationId xmlns:a16="http://schemas.microsoft.com/office/drawing/2014/main" id="{AAAFD6C2-621A-3685-5CE2-951897F93F8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51874" y="2888085"/>
            <a:ext cx="653805" cy="442913"/>
          </a:xfrm>
        </p:spPr>
        <p:txBody>
          <a:bodyPr tIns="108000" bIns="10800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2000"/>
              </a:spcAft>
              <a:buNone/>
              <a:defRPr sz="2000" b="1" i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EE4488BA-B481-70B8-5017-38F47009881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28591" y="2888085"/>
            <a:ext cx="6728446" cy="442913"/>
          </a:xfrm>
        </p:spPr>
        <p:txBody>
          <a:bodyPr tIns="108000" bIns="108000" anchor="ctr">
            <a:noAutofit/>
          </a:bodyPr>
          <a:lstStyle>
            <a:lvl1pPr marL="0" indent="0">
              <a:spcBef>
                <a:spcPts val="1600"/>
              </a:spcBef>
              <a:spcAft>
                <a:spcPts val="160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 b="0" i="0">
                <a:latin typeface="Helvetica Light" panose="020B0403020202020204" pitchFamily="34" charset="0"/>
              </a:defRPr>
            </a:lvl2pPr>
            <a:lvl3pPr marL="914400" indent="0">
              <a:buNone/>
              <a:defRPr sz="1600" b="0" i="0">
                <a:latin typeface="Helvetica Light" panose="020B0403020202020204" pitchFamily="34" charset="0"/>
              </a:defRPr>
            </a:lvl3pPr>
            <a:lvl4pPr marL="1371600" indent="0">
              <a:buNone/>
              <a:defRPr sz="1600" b="0" i="0">
                <a:latin typeface="Helvetica Light" panose="020B0403020202020204" pitchFamily="34" charset="0"/>
              </a:defRPr>
            </a:lvl4pPr>
            <a:lvl5pPr marL="1828800" indent="0">
              <a:buNone/>
              <a:defRPr sz="16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Agenda Item 3</a:t>
            </a:r>
          </a:p>
        </p:txBody>
      </p:sp>
      <p:sp>
        <p:nvSpPr>
          <p:cNvPr id="43" name="Number 1">
            <a:extLst>
              <a:ext uri="{FF2B5EF4-FFF2-40B4-BE49-F238E27FC236}">
                <a16:creationId xmlns:a16="http://schemas.microsoft.com/office/drawing/2014/main" id="{4FD437D1-3749-0411-9B95-AA727668F7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51874" y="3562190"/>
            <a:ext cx="653805" cy="442913"/>
          </a:xfrm>
        </p:spPr>
        <p:txBody>
          <a:bodyPr tIns="108000" bIns="10800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2000"/>
              </a:spcAft>
              <a:buNone/>
              <a:defRPr sz="2000" b="1" i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328A9DC4-03DF-291A-A2CD-EDB2CE4C498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28591" y="3562190"/>
            <a:ext cx="6728446" cy="442913"/>
          </a:xfrm>
        </p:spPr>
        <p:txBody>
          <a:bodyPr tIns="108000" bIns="108000" anchor="ctr">
            <a:noAutofit/>
          </a:bodyPr>
          <a:lstStyle>
            <a:lvl1pPr marL="0" indent="0">
              <a:spcBef>
                <a:spcPts val="1600"/>
              </a:spcBef>
              <a:spcAft>
                <a:spcPts val="160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 b="0" i="0">
                <a:latin typeface="Helvetica Light" panose="020B0403020202020204" pitchFamily="34" charset="0"/>
              </a:defRPr>
            </a:lvl2pPr>
            <a:lvl3pPr marL="914400" indent="0">
              <a:buNone/>
              <a:defRPr sz="1600" b="0" i="0">
                <a:latin typeface="Helvetica Light" panose="020B0403020202020204" pitchFamily="34" charset="0"/>
              </a:defRPr>
            </a:lvl3pPr>
            <a:lvl4pPr marL="1371600" indent="0">
              <a:buNone/>
              <a:defRPr sz="1600" b="0" i="0">
                <a:latin typeface="Helvetica Light" panose="020B0403020202020204" pitchFamily="34" charset="0"/>
              </a:defRPr>
            </a:lvl4pPr>
            <a:lvl5pPr marL="1828800" indent="0">
              <a:buNone/>
              <a:defRPr sz="16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Agenda Item 4</a:t>
            </a:r>
          </a:p>
        </p:txBody>
      </p:sp>
      <p:sp>
        <p:nvSpPr>
          <p:cNvPr id="52" name="Number 1">
            <a:extLst>
              <a:ext uri="{FF2B5EF4-FFF2-40B4-BE49-F238E27FC236}">
                <a16:creationId xmlns:a16="http://schemas.microsoft.com/office/drawing/2014/main" id="{F2C2837C-84C4-AD2C-6922-8D08BFDE60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51874" y="4236295"/>
            <a:ext cx="653805" cy="442913"/>
          </a:xfrm>
        </p:spPr>
        <p:txBody>
          <a:bodyPr tIns="108000" bIns="10800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2000"/>
              </a:spcAft>
              <a:buNone/>
              <a:defRPr sz="2000" b="1" i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CEF9E1E5-D09E-012A-3652-41F55731D1F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28591" y="4236295"/>
            <a:ext cx="6728446" cy="442913"/>
          </a:xfrm>
        </p:spPr>
        <p:txBody>
          <a:bodyPr tIns="108000" bIns="108000" anchor="ctr">
            <a:noAutofit/>
          </a:bodyPr>
          <a:lstStyle>
            <a:lvl1pPr marL="0" indent="0">
              <a:spcBef>
                <a:spcPts val="1600"/>
              </a:spcBef>
              <a:spcAft>
                <a:spcPts val="160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 b="0" i="0">
                <a:latin typeface="Helvetica Light" panose="020B0403020202020204" pitchFamily="34" charset="0"/>
              </a:defRPr>
            </a:lvl2pPr>
            <a:lvl3pPr marL="914400" indent="0">
              <a:buNone/>
              <a:defRPr sz="1600" b="0" i="0">
                <a:latin typeface="Helvetica Light" panose="020B0403020202020204" pitchFamily="34" charset="0"/>
              </a:defRPr>
            </a:lvl3pPr>
            <a:lvl4pPr marL="1371600" indent="0">
              <a:buNone/>
              <a:defRPr sz="1600" b="0" i="0">
                <a:latin typeface="Helvetica Light" panose="020B0403020202020204" pitchFamily="34" charset="0"/>
              </a:defRPr>
            </a:lvl4pPr>
            <a:lvl5pPr marL="1828800" indent="0">
              <a:buNone/>
              <a:defRPr sz="16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Agenda Item 5</a:t>
            </a:r>
          </a:p>
        </p:txBody>
      </p:sp>
      <p:sp>
        <p:nvSpPr>
          <p:cNvPr id="55" name="Number 1">
            <a:extLst>
              <a:ext uri="{FF2B5EF4-FFF2-40B4-BE49-F238E27FC236}">
                <a16:creationId xmlns:a16="http://schemas.microsoft.com/office/drawing/2014/main" id="{CC91CE47-EBEA-F001-2B54-00C01DF0902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51874" y="4910398"/>
            <a:ext cx="653805" cy="442913"/>
          </a:xfrm>
        </p:spPr>
        <p:txBody>
          <a:bodyPr tIns="108000" bIns="10800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2000"/>
              </a:spcAft>
              <a:buNone/>
              <a:defRPr sz="2000" b="1" i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7094B112-3E3B-CD11-69BD-6AE84D7F5D2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28591" y="4910398"/>
            <a:ext cx="6728446" cy="442913"/>
          </a:xfrm>
        </p:spPr>
        <p:txBody>
          <a:bodyPr tIns="108000" bIns="108000" anchor="ctr">
            <a:noAutofit/>
          </a:bodyPr>
          <a:lstStyle>
            <a:lvl1pPr marL="0" indent="0">
              <a:spcBef>
                <a:spcPts val="1600"/>
              </a:spcBef>
              <a:spcAft>
                <a:spcPts val="160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 b="0" i="0">
                <a:latin typeface="Helvetica Light" panose="020B0403020202020204" pitchFamily="34" charset="0"/>
              </a:defRPr>
            </a:lvl2pPr>
            <a:lvl3pPr marL="914400" indent="0">
              <a:buNone/>
              <a:defRPr sz="1600" b="0" i="0">
                <a:latin typeface="Helvetica Light" panose="020B0403020202020204" pitchFamily="34" charset="0"/>
              </a:defRPr>
            </a:lvl3pPr>
            <a:lvl4pPr marL="1371600" indent="0">
              <a:buNone/>
              <a:defRPr sz="1600" b="0" i="0">
                <a:latin typeface="Helvetica Light" panose="020B0403020202020204" pitchFamily="34" charset="0"/>
              </a:defRPr>
            </a:lvl4pPr>
            <a:lvl5pPr marL="1828800" indent="0">
              <a:buNone/>
              <a:defRPr sz="16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Agenda Item 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E80BB0-41EF-05BE-9AC8-70B644E2BB40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4351874" y="6479813"/>
            <a:ext cx="7505162" cy="189435"/>
          </a:xfrm>
        </p:spPr>
        <p:txBody>
          <a:bodyPr/>
          <a:lstStyle/>
          <a:p>
            <a:r>
              <a:rPr lang="en-US" dirty="0"/>
              <a:t>Edit footer to insert school / college / unit details</a:t>
            </a:r>
          </a:p>
        </p:txBody>
      </p:sp>
    </p:spTree>
    <p:extLst>
      <p:ext uri="{BB962C8B-B14F-4D97-AF65-F5344CB8AC3E}">
        <p14:creationId xmlns:p14="http://schemas.microsoft.com/office/powerpoint/2010/main" val="1373834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02AD-92A5-E255-053A-90B402A1C8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867" y="343423"/>
            <a:ext cx="10817352" cy="590931"/>
          </a:xfrm>
        </p:spPr>
        <p:txBody>
          <a:bodyPr wrap="square" anchor="t">
            <a:spAutoFit/>
          </a:bodyPr>
          <a:lstStyle/>
          <a:p>
            <a:r>
              <a:rPr lang="en-US"/>
              <a:t>Title Only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4592C2-1FEB-2755-E64D-D0608F553A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6065" y="343417"/>
            <a:ext cx="462988" cy="590931"/>
          </a:xfrm>
          <a:prstGeom prst="rect">
            <a:avLst/>
          </a:prstGeom>
        </p:spPr>
        <p:txBody>
          <a:bodyPr/>
          <a:lstStyle/>
          <a:p>
            <a:fld id="{1384340B-8AF4-0045-985F-0107ADAFE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48ED5-0A23-6A7B-6C52-0A887BE69E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Edit footer to insert school / college / unit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05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F759-8E2B-8FE3-AA78-59C718716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868" y="343423"/>
            <a:ext cx="10817352" cy="590931"/>
          </a:xfrm>
        </p:spPr>
        <p:txBody>
          <a:bodyPr>
            <a:spAutoFit/>
          </a:bodyPr>
          <a:lstStyle/>
          <a:p>
            <a:r>
              <a:rPr lang="en-US"/>
              <a:t>Two Content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3CC07-C096-EA0A-74CD-96A28E8EB6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6065" y="343417"/>
            <a:ext cx="462988" cy="590931"/>
          </a:xfrm>
          <a:prstGeom prst="rect">
            <a:avLst/>
          </a:prstGeom>
        </p:spPr>
        <p:txBody>
          <a:bodyPr/>
          <a:lstStyle/>
          <a:p>
            <a:fld id="{1384340B-8AF4-0045-985F-0107ADAFE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A05E0-ADDB-B754-1606-D5222CF6DE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4867" y="1196975"/>
            <a:ext cx="5781132" cy="504031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684EA67-90CB-C8CF-F5BC-0877E3FFCA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61075" y="1196975"/>
            <a:ext cx="5795961" cy="504031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EE957-3BD4-EBAA-9364-4AA9F8BA15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Edit footer to insert school / college / unit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72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F759-8E2B-8FE3-AA78-59C718716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868" y="343423"/>
            <a:ext cx="10817352" cy="590931"/>
          </a:xfrm>
        </p:spPr>
        <p:txBody>
          <a:bodyPr anchor="t">
            <a:spAutoFit/>
          </a:bodyPr>
          <a:lstStyle/>
          <a:p>
            <a:r>
              <a:rPr lang="en-US"/>
              <a:t>Title and Content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63B77-4362-9F02-A236-C03ABFAE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6065" y="343417"/>
            <a:ext cx="462988" cy="590931"/>
          </a:xfrm>
          <a:prstGeom prst="rect">
            <a:avLst/>
          </a:prstGeom>
        </p:spPr>
        <p:txBody>
          <a:bodyPr/>
          <a:lstStyle/>
          <a:p>
            <a:fld id="{1384340B-8AF4-0045-985F-0107ADAFE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A05E0-ADDB-B754-1606-D5222CF6DE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4867" y="1196975"/>
            <a:ext cx="11542172" cy="504031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AEDB0-DB99-027F-24EF-D08FE9B18C6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Edit footer to insert school / college / unit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61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F843F5B-B141-E1D4-7895-A820EA9E9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0896" y="585930"/>
            <a:ext cx="10093896" cy="58590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Four Points Layout</a:t>
            </a:r>
          </a:p>
        </p:txBody>
      </p:sp>
      <p:sp>
        <p:nvSpPr>
          <p:cNvPr id="12" name="Subtitle header">
            <a:extLst>
              <a:ext uri="{FF2B5EF4-FFF2-40B4-BE49-F238E27FC236}">
                <a16:creationId xmlns:a16="http://schemas.microsoft.com/office/drawing/2014/main" id="{BFD272CD-C573-D035-0E49-1152976EF0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4867" y="346588"/>
            <a:ext cx="10094976" cy="252412"/>
          </a:xfrm>
        </p:spPr>
        <p:txBody>
          <a:bodyPr anchor="b">
            <a:noAutofit/>
          </a:bodyPr>
          <a:lstStyle>
            <a:lvl1pPr marL="0" indent="14400">
              <a:spcBef>
                <a:spcPts val="200"/>
              </a:spcBef>
              <a:buNone/>
              <a:tabLst/>
              <a:defRPr sz="1400" b="1" cap="all" spc="140" baseline="0">
                <a:solidFill>
                  <a:srgbClr val="881C1C"/>
                </a:solidFill>
              </a:defRPr>
            </a:lvl1pPr>
            <a:lvl2pPr marL="395287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757362" indent="0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32A640-471D-845E-4AAB-150FA4143826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/>
          <a:lstStyle/>
          <a:p>
            <a:fld id="{1384340B-8AF4-0045-985F-0107ADAFEF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Picture Placeholder 28">
            <a:extLst>
              <a:ext uri="{FF2B5EF4-FFF2-40B4-BE49-F238E27FC236}">
                <a16:creationId xmlns:a16="http://schemas.microsoft.com/office/drawing/2014/main" id="{48C46746-8892-A911-C98A-700E8BE2B83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91305" y="1675271"/>
            <a:ext cx="742019" cy="585903"/>
          </a:xfrm>
        </p:spPr>
        <p:txBody>
          <a:bodyPr anchor="ctr">
            <a:normAutofit/>
          </a:bodyPr>
          <a:lstStyle>
            <a:lvl1pPr marL="7938" indent="0" algn="ctr">
              <a:buNone/>
              <a:defRPr sz="1000"/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2" name="graph header 1">
            <a:extLst>
              <a:ext uri="{FF2B5EF4-FFF2-40B4-BE49-F238E27FC236}">
                <a16:creationId xmlns:a16="http://schemas.microsoft.com/office/drawing/2014/main" id="{7F488F56-C2A2-405C-9134-EF2EB36932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5896" y="2608424"/>
            <a:ext cx="2224438" cy="42429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800" b="1" i="0" cap="all" baseline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395287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2pPr>
            <a:lvl3pPr marL="9144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3pPr>
            <a:lvl4pPr marL="13716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4pPr>
            <a:lvl5pPr marL="1757362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610781-F096-A0A3-F0BA-AE5353BC3A2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57582" y="3143014"/>
            <a:ext cx="2232753" cy="490538"/>
          </a:xfrm>
          <a:prstGeom prst="callout1">
            <a:avLst>
              <a:gd name="adj1" fmla="val -148370"/>
              <a:gd name="adj2" fmla="val -11481"/>
              <a:gd name="adj3" fmla="val 492093"/>
              <a:gd name="adj4" fmla="val -11379"/>
            </a:avLst>
          </a:prstGeom>
          <a:ln w="12700">
            <a:solidFill>
              <a:schemeClr val="tx2"/>
            </a:solidFill>
          </a:ln>
        </p:spPr>
        <p:txBody>
          <a:bodyPr lIns="0" rIns="0">
            <a:normAutofit/>
          </a:bodyPr>
          <a:lstStyle>
            <a:lvl1pPr marL="7938" indent="0">
              <a:spcBef>
                <a:spcPts val="0"/>
              </a:spcBef>
              <a:buNone/>
              <a:defRPr sz="1400" b="1" cap="all" spc="140" baseline="0">
                <a:ln>
                  <a:noFill/>
                </a:ln>
              </a:defRPr>
            </a:lvl1pPr>
            <a:lvl2pPr marL="134937" indent="0">
              <a:buNone/>
              <a:defRPr/>
            </a:lvl2pPr>
            <a:lvl3pPr marL="269875" indent="0">
              <a:buNone/>
              <a:defRPr/>
            </a:lvl3pPr>
            <a:lvl4pPr marL="404812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, </a:t>
            </a:r>
          </a:p>
          <a:p>
            <a:pPr lvl="0"/>
            <a:r>
              <a:rPr lang="en-US" dirty="0"/>
              <a:t>up to 2 lines long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16046AC-CEC7-C8CB-8493-81D388656AC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5895" y="3714749"/>
            <a:ext cx="2224439" cy="1514475"/>
          </a:xfrm>
        </p:spPr>
        <p:txBody>
          <a:bodyPr lIns="0">
            <a:normAutofit/>
          </a:bodyPr>
          <a:lstStyle>
            <a:lvl1pPr marL="0" indent="0">
              <a:spcBef>
                <a:spcPts val="600"/>
              </a:spcBef>
              <a:buNone/>
              <a:defRPr sz="1200"/>
            </a:lvl1pPr>
            <a:lvl2pPr marL="134937" indent="0">
              <a:buNone/>
              <a:defRPr/>
            </a:lvl2pPr>
            <a:lvl3pPr marL="269875" indent="0">
              <a:buNone/>
              <a:defRPr/>
            </a:lvl3pPr>
            <a:lvl4pPr marL="404812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en-US" dirty="0"/>
              <a:t>Copy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85FA7E9-5759-8A0F-468F-D0BE0160579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65175" y="5390197"/>
            <a:ext cx="1068872" cy="268015"/>
          </a:xfrm>
          <a:prstGeom prst="snip2DiagRect">
            <a:avLst>
              <a:gd name="adj1" fmla="val 0"/>
              <a:gd name="adj2" fmla="val 30341"/>
            </a:avLst>
          </a:prstGeom>
          <a:solidFill>
            <a:srgbClr val="881C1C"/>
          </a:solidFill>
        </p:spPr>
        <p:txBody>
          <a:bodyPr wrap="none" lIns="72000" tIns="10800" rIns="72000" bIns="10800" anchor="ctr">
            <a:spAutoFit/>
          </a:bodyPr>
          <a:lstStyle>
            <a:lvl1pPr marL="7938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Callout text</a:t>
            </a:r>
          </a:p>
        </p:txBody>
      </p:sp>
      <p:sp>
        <p:nvSpPr>
          <p:cNvPr id="16" name="Picture Placeholder 28">
            <a:extLst>
              <a:ext uri="{FF2B5EF4-FFF2-40B4-BE49-F238E27FC236}">
                <a16:creationId xmlns:a16="http://schemas.microsoft.com/office/drawing/2014/main" id="{B547D5F5-3198-1504-E399-1D6978A0301B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467262" y="1675271"/>
            <a:ext cx="742019" cy="585903"/>
          </a:xfrm>
        </p:spPr>
        <p:txBody>
          <a:bodyPr anchor="ctr">
            <a:normAutofit/>
          </a:bodyPr>
          <a:lstStyle>
            <a:lvl1pPr marL="7938" indent="0" algn="ctr">
              <a:buNone/>
              <a:defRPr sz="1000"/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17" name="graph header 1">
            <a:extLst>
              <a:ext uri="{FF2B5EF4-FFF2-40B4-BE49-F238E27FC236}">
                <a16:creationId xmlns:a16="http://schemas.microsoft.com/office/drawing/2014/main" id="{8A87A24F-125B-9B6F-425B-DAA74F4829C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741853" y="2608424"/>
            <a:ext cx="2224438" cy="42429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800" b="1" i="0" cap="all" baseline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395287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2pPr>
            <a:lvl3pPr marL="9144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3pPr>
            <a:lvl4pPr marL="13716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4pPr>
            <a:lvl5pPr marL="1757362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BDEBEEE-D2E5-BBD9-5FE9-E4B1B981F9E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733539" y="3143014"/>
            <a:ext cx="2232753" cy="490538"/>
          </a:xfrm>
          <a:prstGeom prst="callout1">
            <a:avLst>
              <a:gd name="adj1" fmla="val -148370"/>
              <a:gd name="adj2" fmla="val -11481"/>
              <a:gd name="adj3" fmla="val 492093"/>
              <a:gd name="adj4" fmla="val -11379"/>
            </a:avLst>
          </a:prstGeom>
          <a:ln w="12700">
            <a:solidFill>
              <a:schemeClr val="tx2"/>
            </a:solidFill>
          </a:ln>
        </p:spPr>
        <p:txBody>
          <a:bodyPr lIns="0" rIns="0">
            <a:normAutofit/>
          </a:bodyPr>
          <a:lstStyle>
            <a:lvl1pPr marL="7938" indent="0">
              <a:spcBef>
                <a:spcPts val="0"/>
              </a:spcBef>
              <a:buNone/>
              <a:defRPr sz="1400" b="1" cap="all" spc="140" baseline="0">
                <a:ln>
                  <a:noFill/>
                </a:ln>
              </a:defRPr>
            </a:lvl1pPr>
            <a:lvl2pPr marL="134937" indent="0">
              <a:buNone/>
              <a:defRPr/>
            </a:lvl2pPr>
            <a:lvl3pPr marL="269875" indent="0">
              <a:buNone/>
              <a:defRPr/>
            </a:lvl3pPr>
            <a:lvl4pPr marL="404812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, </a:t>
            </a:r>
          </a:p>
          <a:p>
            <a:pPr lvl="0"/>
            <a:r>
              <a:rPr lang="en-US" dirty="0"/>
              <a:t>up to 2 lines long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189D6AA1-A19A-B24D-B38D-DFCC96A967D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741853" y="3714749"/>
            <a:ext cx="2224438" cy="1514475"/>
          </a:xfrm>
        </p:spPr>
        <p:txBody>
          <a:bodyPr lIns="0">
            <a:normAutofit/>
          </a:bodyPr>
          <a:lstStyle>
            <a:lvl1pPr marL="0" indent="0">
              <a:spcBef>
                <a:spcPts val="600"/>
              </a:spcBef>
              <a:buNone/>
              <a:defRPr sz="1200"/>
            </a:lvl1pPr>
            <a:lvl2pPr marL="134937" indent="0">
              <a:buNone/>
              <a:defRPr/>
            </a:lvl2pPr>
            <a:lvl3pPr marL="269875" indent="0">
              <a:buNone/>
              <a:defRPr/>
            </a:lvl3pPr>
            <a:lvl4pPr marL="404812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en-US" dirty="0"/>
              <a:t>Copy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68D5ECE-B341-B2C8-94F3-D81E714F22F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741132" y="5390197"/>
            <a:ext cx="1068872" cy="268015"/>
          </a:xfrm>
          <a:prstGeom prst="snip2DiagRect">
            <a:avLst>
              <a:gd name="adj1" fmla="val 0"/>
              <a:gd name="adj2" fmla="val 30341"/>
            </a:avLst>
          </a:prstGeom>
          <a:solidFill>
            <a:srgbClr val="881C1C"/>
          </a:solidFill>
        </p:spPr>
        <p:txBody>
          <a:bodyPr wrap="none" lIns="72000" tIns="10800" rIns="72000" bIns="10800" anchor="ctr">
            <a:spAutoFit/>
          </a:bodyPr>
          <a:lstStyle>
            <a:lvl1pPr marL="7938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Callout text</a:t>
            </a:r>
          </a:p>
        </p:txBody>
      </p:sp>
      <p:sp>
        <p:nvSpPr>
          <p:cNvPr id="25" name="Picture Placeholder 28">
            <a:extLst>
              <a:ext uri="{FF2B5EF4-FFF2-40B4-BE49-F238E27FC236}">
                <a16:creationId xmlns:a16="http://schemas.microsoft.com/office/drawing/2014/main" id="{97676639-4CAC-2D21-2D9C-74F6F64A17BA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6434905" y="1675271"/>
            <a:ext cx="742019" cy="585903"/>
          </a:xfrm>
        </p:spPr>
        <p:txBody>
          <a:bodyPr anchor="ctr">
            <a:normAutofit/>
          </a:bodyPr>
          <a:lstStyle>
            <a:lvl1pPr marL="7938" indent="0" algn="ctr">
              <a:buNone/>
              <a:defRPr sz="1000"/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26" name="graph header 1">
            <a:extLst>
              <a:ext uri="{FF2B5EF4-FFF2-40B4-BE49-F238E27FC236}">
                <a16:creationId xmlns:a16="http://schemas.microsoft.com/office/drawing/2014/main" id="{09BA44B2-5C8C-6E1C-AD65-C9840D363A1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709495" y="2608424"/>
            <a:ext cx="2224437" cy="42429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800" b="1" i="0" cap="all" baseline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395287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2pPr>
            <a:lvl3pPr marL="9144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3pPr>
            <a:lvl4pPr marL="13716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4pPr>
            <a:lvl5pPr marL="1757362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2DC8ADB4-2FD3-4A5E-847D-3C17F2DF7D40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701182" y="3143014"/>
            <a:ext cx="2232753" cy="490538"/>
          </a:xfrm>
          <a:prstGeom prst="callout1">
            <a:avLst>
              <a:gd name="adj1" fmla="val -148370"/>
              <a:gd name="adj2" fmla="val -11481"/>
              <a:gd name="adj3" fmla="val 492093"/>
              <a:gd name="adj4" fmla="val -11379"/>
            </a:avLst>
          </a:prstGeom>
          <a:ln w="12700">
            <a:solidFill>
              <a:schemeClr val="tx2"/>
            </a:solidFill>
          </a:ln>
        </p:spPr>
        <p:txBody>
          <a:bodyPr lIns="0" rIns="0">
            <a:normAutofit/>
          </a:bodyPr>
          <a:lstStyle>
            <a:lvl1pPr marL="7938" indent="0">
              <a:spcBef>
                <a:spcPts val="0"/>
              </a:spcBef>
              <a:buNone/>
              <a:defRPr sz="1400" b="1" cap="all" spc="140" baseline="0">
                <a:ln>
                  <a:noFill/>
                </a:ln>
              </a:defRPr>
            </a:lvl1pPr>
            <a:lvl2pPr marL="134937" indent="0">
              <a:buNone/>
              <a:defRPr/>
            </a:lvl2pPr>
            <a:lvl3pPr marL="269875" indent="0">
              <a:buNone/>
              <a:defRPr/>
            </a:lvl3pPr>
            <a:lvl4pPr marL="404812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, </a:t>
            </a:r>
          </a:p>
          <a:p>
            <a:pPr lvl="0"/>
            <a:r>
              <a:rPr lang="en-US" dirty="0"/>
              <a:t>up to 2 lines long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5A7AF29-F0AD-C1CF-47B3-73E232B6417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709495" y="3714749"/>
            <a:ext cx="2232753" cy="1514475"/>
          </a:xfrm>
        </p:spPr>
        <p:txBody>
          <a:bodyPr lIns="0">
            <a:normAutofit/>
          </a:bodyPr>
          <a:lstStyle>
            <a:lvl1pPr marL="0" indent="0">
              <a:spcBef>
                <a:spcPts val="600"/>
              </a:spcBef>
              <a:buNone/>
              <a:defRPr sz="1200"/>
            </a:lvl1pPr>
            <a:lvl2pPr marL="134937" indent="0">
              <a:buNone/>
              <a:defRPr/>
            </a:lvl2pPr>
            <a:lvl3pPr marL="269875" indent="0">
              <a:buNone/>
              <a:defRPr/>
            </a:lvl3pPr>
            <a:lvl4pPr marL="404812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en-US" dirty="0"/>
              <a:t>Copy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B7D04893-B6E7-7404-3555-0365F1DFA8A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708775" y="5390197"/>
            <a:ext cx="1068872" cy="268015"/>
          </a:xfrm>
          <a:prstGeom prst="snip2DiagRect">
            <a:avLst>
              <a:gd name="adj1" fmla="val 0"/>
              <a:gd name="adj2" fmla="val 30341"/>
            </a:avLst>
          </a:prstGeom>
          <a:solidFill>
            <a:srgbClr val="881C1C"/>
          </a:solidFill>
        </p:spPr>
        <p:txBody>
          <a:bodyPr wrap="none" lIns="72000" tIns="10800" rIns="72000" bIns="10800" anchor="ctr">
            <a:spAutoFit/>
          </a:bodyPr>
          <a:lstStyle>
            <a:lvl1pPr marL="7938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Callout text</a:t>
            </a:r>
          </a:p>
        </p:txBody>
      </p:sp>
      <p:sp>
        <p:nvSpPr>
          <p:cNvPr id="38" name="Picture Placeholder 28">
            <a:extLst>
              <a:ext uri="{FF2B5EF4-FFF2-40B4-BE49-F238E27FC236}">
                <a16:creationId xmlns:a16="http://schemas.microsoft.com/office/drawing/2014/main" id="{3D92F074-25DC-17B0-0A3D-9C7103CE439F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9402548" y="1675271"/>
            <a:ext cx="742019" cy="585903"/>
          </a:xfrm>
        </p:spPr>
        <p:txBody>
          <a:bodyPr anchor="ctr">
            <a:normAutofit/>
          </a:bodyPr>
          <a:lstStyle>
            <a:lvl1pPr marL="7938" indent="0" algn="ctr">
              <a:buNone/>
              <a:defRPr sz="1000"/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9" name="graph header 1">
            <a:extLst>
              <a:ext uri="{FF2B5EF4-FFF2-40B4-BE49-F238E27FC236}">
                <a16:creationId xmlns:a16="http://schemas.microsoft.com/office/drawing/2014/main" id="{A3A907A1-B4C4-CA1B-C790-45E4FF7AAED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677138" y="2608424"/>
            <a:ext cx="2179897" cy="42429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800" b="1" i="0" cap="all" baseline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395287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2pPr>
            <a:lvl3pPr marL="9144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3pPr>
            <a:lvl4pPr marL="13716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4pPr>
            <a:lvl5pPr marL="1757362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8AAA3D98-F21E-84C5-A034-0021C81B9BD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8826" y="3143014"/>
            <a:ext cx="2188210" cy="490538"/>
          </a:xfrm>
          <a:prstGeom prst="callout1">
            <a:avLst>
              <a:gd name="adj1" fmla="val -148370"/>
              <a:gd name="adj2" fmla="val -11481"/>
              <a:gd name="adj3" fmla="val 492093"/>
              <a:gd name="adj4" fmla="val -11379"/>
            </a:avLst>
          </a:prstGeom>
          <a:ln w="12700">
            <a:solidFill>
              <a:schemeClr val="tx2"/>
            </a:solidFill>
          </a:ln>
        </p:spPr>
        <p:txBody>
          <a:bodyPr lIns="0" rIns="0">
            <a:normAutofit/>
          </a:bodyPr>
          <a:lstStyle>
            <a:lvl1pPr marL="7938" indent="0">
              <a:spcBef>
                <a:spcPts val="0"/>
              </a:spcBef>
              <a:buNone/>
              <a:defRPr sz="1400" b="1" cap="all" spc="140" baseline="0">
                <a:ln>
                  <a:noFill/>
                </a:ln>
              </a:defRPr>
            </a:lvl1pPr>
            <a:lvl2pPr marL="134937" indent="0">
              <a:buNone/>
              <a:defRPr/>
            </a:lvl2pPr>
            <a:lvl3pPr marL="269875" indent="0">
              <a:buNone/>
              <a:defRPr/>
            </a:lvl3pPr>
            <a:lvl4pPr marL="404812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r>
              <a:rPr lang="en-US" dirty="0"/>
              <a:t>, </a:t>
            </a:r>
          </a:p>
          <a:p>
            <a:pPr lvl="0"/>
            <a:r>
              <a:rPr lang="en-US" dirty="0"/>
              <a:t>up to 2 lines long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D0535494-7E20-2282-105B-F279EB020F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77139" y="3714749"/>
            <a:ext cx="2179896" cy="1514475"/>
          </a:xfrm>
        </p:spPr>
        <p:txBody>
          <a:bodyPr lIns="0">
            <a:normAutofit/>
          </a:bodyPr>
          <a:lstStyle>
            <a:lvl1pPr marL="0" indent="0">
              <a:spcBef>
                <a:spcPts val="600"/>
              </a:spcBef>
              <a:buNone/>
              <a:defRPr sz="1200"/>
            </a:lvl1pPr>
            <a:lvl2pPr marL="134937" indent="0">
              <a:buNone/>
              <a:defRPr/>
            </a:lvl2pPr>
            <a:lvl3pPr marL="269875" indent="0">
              <a:buNone/>
              <a:defRPr/>
            </a:lvl3pPr>
            <a:lvl4pPr marL="404812" indent="0">
              <a:buNone/>
              <a:defRPr/>
            </a:lvl4pPr>
            <a:lvl5pPr marL="539750" indent="0">
              <a:buNone/>
              <a:defRPr/>
            </a:lvl5pPr>
          </a:lstStyle>
          <a:p>
            <a:pPr lvl="0"/>
            <a:r>
              <a:rPr lang="en-US" dirty="0"/>
              <a:t>Copy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4489AA13-D8C1-6597-6472-EA24BFADFDC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676418" y="5390197"/>
            <a:ext cx="1068872" cy="268015"/>
          </a:xfrm>
          <a:prstGeom prst="snip2DiagRect">
            <a:avLst>
              <a:gd name="adj1" fmla="val 0"/>
              <a:gd name="adj2" fmla="val 30341"/>
            </a:avLst>
          </a:prstGeom>
          <a:solidFill>
            <a:srgbClr val="881C1C"/>
          </a:solidFill>
        </p:spPr>
        <p:txBody>
          <a:bodyPr wrap="none" lIns="72000" tIns="10800" rIns="72000" bIns="10800" anchor="ctr">
            <a:spAutoFit/>
          </a:bodyPr>
          <a:lstStyle>
            <a:lvl1pPr marL="7938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Callout text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295CD-1D52-0E43-C1B5-06E0EC8BBB3E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/>
              <a:t>Edit footer to insert school / college / unit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451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ins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F843F5B-B141-E1D4-7895-A820EA9E9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0896" y="585216"/>
            <a:ext cx="10094976" cy="58590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Bulletins and Graph Layout</a:t>
            </a:r>
          </a:p>
        </p:txBody>
      </p:sp>
      <p:sp>
        <p:nvSpPr>
          <p:cNvPr id="12" name="Subtitle header">
            <a:extLst>
              <a:ext uri="{FF2B5EF4-FFF2-40B4-BE49-F238E27FC236}">
                <a16:creationId xmlns:a16="http://schemas.microsoft.com/office/drawing/2014/main" id="{BFD272CD-C573-D035-0E49-1152976EF0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4867" y="346588"/>
            <a:ext cx="10094976" cy="252412"/>
          </a:xfrm>
        </p:spPr>
        <p:txBody>
          <a:bodyPr anchor="b">
            <a:noAutofit/>
          </a:bodyPr>
          <a:lstStyle>
            <a:lvl1pPr marL="0" indent="14400">
              <a:spcBef>
                <a:spcPts val="200"/>
              </a:spcBef>
              <a:buNone/>
              <a:tabLst/>
              <a:defRPr sz="1400" b="1" cap="all" spc="140" baseline="0">
                <a:solidFill>
                  <a:srgbClr val="881C1C"/>
                </a:solidFill>
              </a:defRPr>
            </a:lvl1pPr>
            <a:lvl2pPr marL="395287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757362" indent="0">
              <a:buNone/>
              <a:defRPr sz="1600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4DDD9A-C096-A14C-B540-61810A297DB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384340B-8AF4-0045-985F-0107ADAFEF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ubtext header 1">
            <a:extLst>
              <a:ext uri="{FF2B5EF4-FFF2-40B4-BE49-F238E27FC236}">
                <a16:creationId xmlns:a16="http://schemas.microsoft.com/office/drawing/2014/main" id="{0023388B-8208-72FF-1F20-1E0F7725E6E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0896" y="1469898"/>
            <a:ext cx="6560438" cy="280297"/>
          </a:xfrm>
          <a:prstGeom prst="rect">
            <a:avLst/>
          </a:prstGeom>
          <a:ln w="12700">
            <a:noFill/>
          </a:ln>
        </p:spPr>
        <p:txBody>
          <a:bodyPr lIns="90000" anchor="t">
            <a:noAutofit/>
          </a:bodyPr>
          <a:lstStyle>
            <a:lvl1pPr marL="0" indent="0">
              <a:buNone/>
              <a:defRPr sz="1400" b="1" i="0" cap="all" spc="140" baseline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395287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2pPr>
            <a:lvl3pPr marL="9144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3pPr>
            <a:lvl4pPr marL="1371600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4pPr>
            <a:lvl5pPr marL="1757362" indent="0">
              <a:buNone/>
              <a:defRPr sz="2400">
                <a:solidFill>
                  <a:schemeClr val="accent2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5pPr>
          </a:lstStyle>
          <a:p>
            <a:pPr lvl="0"/>
            <a:r>
              <a:rPr lang="en-US" dirty="0"/>
              <a:t>OPTIONAL SUBHEADER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B078AD5-6398-2EC0-33AD-DF072257BF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0896" y="1855304"/>
            <a:ext cx="6560439" cy="4444912"/>
          </a:xfrm>
        </p:spPr>
        <p:txBody>
          <a:bodyPr lIns="90000">
            <a:noAutofit/>
          </a:bodyPr>
          <a:lstStyle>
            <a:lvl1pPr marL="144463" indent="-136525">
              <a:spcAft>
                <a:spcPts val="600"/>
              </a:spcAft>
              <a:tabLst/>
              <a:defRPr/>
            </a:lvl1pPr>
          </a:lstStyle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  <a:p>
            <a:pPr lvl="0"/>
            <a:r>
              <a:rPr lang="en-US"/>
              <a:t>Copy text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17BBC6E-2047-05CE-5BF6-3A54FB0199AF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7285220" y="1470025"/>
            <a:ext cx="4571818" cy="4830191"/>
          </a:xfrm>
        </p:spPr>
        <p:txBody>
          <a:bodyPr anchor="ctr"/>
          <a:lstStyle>
            <a:lvl1pPr marL="7938" indent="0" algn="ctr">
              <a:buNone/>
              <a:defRPr/>
            </a:lvl1pPr>
            <a:lvl2pPr marL="134937" indent="0" algn="ctr">
              <a:buNone/>
              <a:defRPr/>
            </a:lvl2pPr>
            <a:lvl3pPr marL="269875" indent="0" algn="ctr">
              <a:buNone/>
              <a:defRPr/>
            </a:lvl3pPr>
            <a:lvl4pPr marL="404812" indent="0" algn="ctr">
              <a:buNone/>
              <a:defRPr/>
            </a:lvl4pPr>
            <a:lvl5pPr marL="539750" indent="0" algn="ctr">
              <a:buNone/>
              <a:defRPr/>
            </a:lvl5pPr>
          </a:lstStyle>
          <a:p>
            <a:pPr lvl="0"/>
            <a:r>
              <a:rPr lang="en-US"/>
              <a:t>INSERT GRAPH OR CONTENT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32588-B3E6-34DD-AA1B-8DFEB0221B6A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Edit footer to insert school / college / unit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88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header">
            <a:extLst>
              <a:ext uri="{FF2B5EF4-FFF2-40B4-BE49-F238E27FC236}">
                <a16:creationId xmlns:a16="http://schemas.microsoft.com/office/drawing/2014/main" id="{6FBEF32C-0CD7-1E9A-2290-B0734DFB5C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1548" y="1084042"/>
            <a:ext cx="6303651" cy="4689916"/>
          </a:xfrm>
          <a:prstGeom prst="rect">
            <a:avLst/>
          </a:prstGeom>
          <a:solidFill>
            <a:schemeClr val="bg1"/>
          </a:solidFill>
        </p:spPr>
        <p:txBody>
          <a:bodyPr lIns="251999" tIns="0" rIns="251999" bIns="648000" anchor="ctr">
            <a:noAutofit/>
          </a:bodyPr>
          <a:lstStyle>
            <a:lvl1pPr marL="0" indent="0" algn="ctr">
              <a:spcBef>
                <a:spcPts val="400"/>
              </a:spcBef>
              <a:buNone/>
              <a:defRPr sz="5400" b="1" i="0">
                <a:solidFill>
                  <a:srgbClr val="881C1C"/>
                </a:solidFill>
                <a:latin typeface="Arial" panose="020B0604020202020204" pitchFamily="34" charset="0"/>
                <a:ea typeface="Baskerville" panose="02020502070401020303" pitchFamily="18" charset="0"/>
                <a:cs typeface="Arial" panose="020B0604020202020204" pitchFamily="34" charset="0"/>
              </a:defRPr>
            </a:lvl1pPr>
            <a:lvl2pPr marL="457200" indent="0" algn="l">
              <a:buNone/>
              <a:defRPr sz="6500" b="0" i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2pPr>
            <a:lvl3pPr marL="914400" indent="0" algn="l">
              <a:buNone/>
              <a:defRPr sz="6500" b="0" i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3pPr>
            <a:lvl4pPr marL="1371600" indent="0" algn="l">
              <a:buNone/>
              <a:defRPr sz="6500" b="0" i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4pPr>
            <a:lvl5pPr marL="1828800" indent="0" algn="l">
              <a:buNone/>
              <a:defRPr sz="6500" b="0" i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defRPr>
            </a:lvl5pPr>
          </a:lstStyle>
          <a:p>
            <a:pPr lvl="0"/>
            <a:r>
              <a:rPr lang="en-US" dirty="0"/>
              <a:t>Section Title,</a:t>
            </a:r>
            <a:br>
              <a:rPr lang="en-US" dirty="0"/>
            </a:br>
            <a:r>
              <a:rPr lang="en-US" dirty="0"/>
              <a:t>Key Message,</a:t>
            </a:r>
            <a:br>
              <a:rPr lang="en-US" dirty="0"/>
            </a:br>
            <a:r>
              <a:rPr lang="en-US" dirty="0"/>
              <a:t>Three Lines Long</a:t>
            </a:r>
          </a:p>
        </p:txBody>
      </p:sp>
      <p:sp>
        <p:nvSpPr>
          <p:cNvPr id="21" name="Presenter name">
            <a:extLst>
              <a:ext uri="{FF2B5EF4-FFF2-40B4-BE49-F238E27FC236}">
                <a16:creationId xmlns:a16="http://schemas.microsoft.com/office/drawing/2014/main" id="{1A21B074-6AD5-828C-538F-242F077FA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1549" y="4692962"/>
            <a:ext cx="6303650" cy="659756"/>
          </a:xfrm>
        </p:spPr>
        <p:txBody>
          <a:bodyPr lIns="251999" rIns="251999" anchor="t">
            <a:noAutofit/>
          </a:bodyPr>
          <a:lstStyle>
            <a:lvl1pPr marL="0" indent="0" algn="ctr">
              <a:spcBef>
                <a:spcPts val="300"/>
              </a:spcBef>
              <a:buNone/>
              <a:defRPr sz="2000" b="0" i="0" cap="all" spc="14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  <a:latin typeface="Helvetica" pitchFamily="2" charset="0"/>
              </a:defRPr>
            </a:lvl3pPr>
            <a:lvl4pPr marL="1371600" indent="0">
              <a:buNone/>
              <a:defRPr sz="2800">
                <a:solidFill>
                  <a:schemeClr val="bg1"/>
                </a:solidFill>
                <a:latin typeface="Helvetica" pitchFamily="2" charset="0"/>
              </a:defRPr>
            </a:lvl4pPr>
            <a:lvl5pPr marL="1828800" indent="0">
              <a:buNone/>
              <a:defRPr sz="2800">
                <a:solidFill>
                  <a:schemeClr val="bg1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SUBTITLE/SECONDARY TEXT</a:t>
            </a:r>
          </a:p>
          <a:p>
            <a:pPr lvl="0"/>
            <a:r>
              <a:rPr lang="en-US" dirty="0"/>
              <a:t>2 LINES LONG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06AE1AB-F241-07F6-71FD-34976EDC4D7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7938" indent="0" algn="r">
              <a:buNone/>
              <a:defRPr/>
            </a:lvl1pPr>
          </a:lstStyle>
          <a:p>
            <a:r>
              <a:rPr lang="en-US" dirty="0"/>
              <a:t>DRAG IN PHOTO FROM FILE</a:t>
            </a:r>
            <a:br>
              <a:rPr lang="en-US" dirty="0"/>
            </a:br>
            <a:r>
              <a:rPr lang="en-US" dirty="0"/>
              <a:t> 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76DCC-9920-9AFF-FAA9-19A35F803A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Edit footer to insert school / college / unit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20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08B11-91A9-0C41-0A75-A938A2828F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6065" y="343417"/>
            <a:ext cx="462988" cy="590931"/>
          </a:xfrm>
          <a:prstGeom prst="rect">
            <a:avLst/>
          </a:prstGeom>
        </p:spPr>
        <p:txBody>
          <a:bodyPr/>
          <a:lstStyle/>
          <a:p>
            <a:fld id="{1384340B-8AF4-0045-985F-0107ADAFEF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1E9E4-759B-8ECF-96F5-1EA16D72F0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Edit footer to insert school / college / unit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866" y="343423"/>
            <a:ext cx="11542171" cy="5909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EC259B6-84FC-0431-4FDF-27C96DF8F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6065" y="343417"/>
            <a:ext cx="462988" cy="590931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  <p:txBody>
          <a:bodyPr vert="horz" lIns="0" tIns="45720" rIns="0" bIns="45720" rtlCol="0" anchor="b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1384340B-8AF4-0045-985F-0107ADAFEF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866" y="1196975"/>
            <a:ext cx="11542171" cy="5040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D2963-0DB5-0662-17A8-0D5104B3D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865" y="6479813"/>
            <a:ext cx="11542171" cy="1894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Edit footer to insert school / college / unit details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03" r:id="rId2"/>
    <p:sldLayoutId id="2147483672" r:id="rId3"/>
    <p:sldLayoutId id="2147483694" r:id="rId4"/>
    <p:sldLayoutId id="2147483699" r:id="rId5"/>
    <p:sldLayoutId id="2147483701" r:id="rId6"/>
    <p:sldLayoutId id="2147483700" r:id="rId7"/>
    <p:sldLayoutId id="2147483704" r:id="rId8"/>
    <p:sldLayoutId id="2147483702" r:id="rId9"/>
    <p:sldLayoutId id="2147483698" r:id="rId10"/>
    <p:sldLayoutId id="214748366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Baskerville" panose="02020502070401020303" pitchFamily="18" charset="0"/>
          <a:cs typeface="Arial" panose="020B0604020202020204" pitchFamily="34" charset="0"/>
        </a:defRPr>
      </a:lvl1pPr>
    </p:titleStyle>
    <p:bodyStyle>
      <a:lvl1pPr marL="144463" indent="-136525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69875" indent="-134938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04813" indent="-134938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39750" indent="-134938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/>
        <a:defRPr sz="1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674688" indent="-134938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/>
        <a:defRPr sz="1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89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orient="horz" pos="210" userDrawn="1">
          <p15:clr>
            <a:srgbClr val="F26B43"/>
          </p15:clr>
        </p15:guide>
        <p15:guide id="8" orient="horz" pos="744" userDrawn="1">
          <p15:clr>
            <a:srgbClr val="F26B43"/>
          </p15:clr>
        </p15:guide>
        <p15:guide id="10" orient="horz" pos="592" userDrawn="1">
          <p15:clr>
            <a:srgbClr val="F26B43"/>
          </p15:clr>
        </p15:guide>
        <p15:guide id="12" orient="horz" pos="4201" userDrawn="1">
          <p15:clr>
            <a:srgbClr val="F26B43"/>
          </p15:clr>
        </p15:guide>
        <p15:guide id="13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B4A1-1AA8-4CCE-2577-0816A668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F274CD-5C01-F7D2-6151-230ABDA7D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15" y="4739199"/>
            <a:ext cx="11875770" cy="128342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Intramural Scheduling Optimization</a:t>
            </a:r>
            <a:br>
              <a:rPr lang="en-US" dirty="0"/>
            </a:br>
            <a:r>
              <a:rPr lang="en-US" sz="3200" b="0" dirty="0"/>
              <a:t>UMass </a:t>
            </a:r>
            <a:r>
              <a:rPr lang="en-US" sz="3200" b="0" dirty="0" err="1"/>
              <a:t>RecWell</a:t>
            </a:r>
            <a:endParaRPr lang="en-US" b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89D4AA9-F6DE-2F63-0C5A-52BBFD70BF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770" y="6455835"/>
            <a:ext cx="10314839" cy="242729"/>
          </a:xfrm>
        </p:spPr>
        <p:txBody>
          <a:bodyPr/>
          <a:lstStyle/>
          <a:p>
            <a:r>
              <a:rPr lang="en-US" dirty="0"/>
              <a:t>9-26-2025</a:t>
            </a:r>
          </a:p>
        </p:txBody>
      </p:sp>
      <p:pic>
        <p:nvPicPr>
          <p:cNvPr id="7" name="Picture Placeholder 6" descr="UMass Old Chapel">
            <a:extLst>
              <a:ext uri="{FF2B5EF4-FFF2-40B4-BE49-F238E27FC236}">
                <a16:creationId xmlns:a16="http://schemas.microsoft.com/office/drawing/2014/main" id="{B92528C0-D232-EFB5-38C3-5CDECC6BA8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9" b="22009"/>
          <a:stretch/>
        </p:blipFill>
        <p:spPr/>
      </p:pic>
    </p:spTree>
    <p:extLst>
      <p:ext uri="{BB962C8B-B14F-4D97-AF65-F5344CB8AC3E}">
        <p14:creationId xmlns:p14="http://schemas.microsoft.com/office/powerpoint/2010/main" val="332820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1CDCB-59E2-A88B-5512-33E9F97BC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3AA4B56-849B-14C8-1186-2F57C618198E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34963" y="1568661"/>
            <a:ext cx="3256376" cy="1319424"/>
          </a:xfrm>
        </p:spPr>
        <p:txBody>
          <a:bodyPr/>
          <a:lstStyle/>
          <a:p>
            <a:r>
              <a:rPr lang="en-US" dirty="0"/>
              <a:t>Quick Agenda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09DF218-FF64-E5C1-D297-8D512921B0AB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384340B-8AF4-0045-985F-0107ADAFEF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675091-F515-5FC7-627F-F4C797D639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BF6515-0C6C-9EC4-DBB9-58919A45A4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What’s our problem?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D0CBE-632C-9C7D-CA6B-68B5B17FD3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C52F568-0DC3-4645-3E03-989468BE4CD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Introduction to Optimization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3EA64-F579-87FF-DB1B-581BE403929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832154-BEE2-F331-7D6C-3C61D90530E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My Solution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611E0B-B249-C1F6-A86F-56FE62159CA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0A6102E-9AFF-BB64-8E62-D7AE915E3C5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Quick Demo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FD3FE4-CFBE-00A2-8803-BAD7A36FDDD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F329A5-3082-F79E-EFD2-BD1ACC2A228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 dirty="0"/>
              <a:t>Feedback &amp; Future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2FDF973-AFFE-D920-5207-ECDE8BD84340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4351874" y="6479813"/>
            <a:ext cx="6805484" cy="18943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RecWell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- Intramurals</a:t>
            </a:r>
          </a:p>
        </p:txBody>
      </p:sp>
    </p:spTree>
    <p:extLst>
      <p:ext uri="{BB962C8B-B14F-4D97-AF65-F5344CB8AC3E}">
        <p14:creationId xmlns:p14="http://schemas.microsoft.com/office/powerpoint/2010/main" val="3629343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BEF40-606E-29B0-BB83-938CCF5A5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632A931-7945-9F7E-5D86-B6887A4E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Problem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73A54-20DB-1EF3-359A-2DC85BD2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340B-8AF4-0045-985F-0107ADAFEF0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96E0A42-28BB-5AD0-F782-5C237A0B53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4864" y="1073736"/>
            <a:ext cx="11542172" cy="5040311"/>
          </a:xfrm>
        </p:spPr>
        <p:txBody>
          <a:bodyPr/>
          <a:lstStyle/>
          <a:p>
            <a:pPr>
              <a:spcAft>
                <a:spcPts val="1200"/>
              </a:spcAft>
              <a:buFontTx/>
              <a:buChar char="-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Each PA (Program Assistant) schedules ~15-40 Officials for ~40-60 games each week</a:t>
            </a:r>
          </a:p>
          <a:p>
            <a:pPr marL="7938" indent="0">
              <a:spcAft>
                <a:spcPts val="1200"/>
              </a:spcAft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Must balance game difficulty, Officials experience &amp; effort, balancing hours, etc.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 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Requires looking at master schedule, fusion play, official evals., etc. all simultaneously</a:t>
            </a:r>
          </a:p>
          <a:p>
            <a:pPr>
              <a:spcAft>
                <a:spcPts val="1200"/>
              </a:spcAft>
              <a:buFontTx/>
              <a:buChar char="-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Schedules are reused week-to-week to decrease office time but at the </a:t>
            </a: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 of game variety </a:t>
            </a:r>
          </a:p>
          <a:p>
            <a:pPr>
              <a:spcAft>
                <a:spcPts val="1200"/>
              </a:spcAft>
              <a:buFontTx/>
              <a:buChar char="-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Scheduling time </a:t>
            </a: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inhibits other work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(contacting teams, other intramural events) </a:t>
            </a:r>
          </a:p>
          <a:p>
            <a:pPr>
              <a:spcAft>
                <a:spcPts val="1200"/>
              </a:spcAft>
              <a:buFontTx/>
              <a:buChar char="-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First week schedules take </a:t>
            </a: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2+ hours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when familiarizing with referees and divisions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Successive weeks still take 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1+ hours 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adjust based week-to-week changes</a:t>
            </a:r>
          </a:p>
          <a:p>
            <a:pPr>
              <a:buFontTx/>
              <a:buChar char="-"/>
            </a:pPr>
            <a:endParaRPr lang="en-US" sz="18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0564B-67FA-332E-C8E8-3AA9B0A812B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err="1"/>
              <a:t>RecWell</a:t>
            </a:r>
            <a:r>
              <a:rPr lang="en-US" dirty="0"/>
              <a:t> - Intramurals</a:t>
            </a:r>
          </a:p>
        </p:txBody>
      </p:sp>
      <p:pic>
        <p:nvPicPr>
          <p:cNvPr id="1026" name="Picture 2" descr="Fusion Play Training">
            <a:extLst>
              <a:ext uri="{FF2B5EF4-FFF2-40B4-BE49-F238E27FC236}">
                <a16:creationId xmlns:a16="http://schemas.microsoft.com/office/drawing/2014/main" id="{53D60582-2EE2-7382-1FD1-5FF8F78A06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55" b="35067"/>
          <a:stretch>
            <a:fillRect/>
          </a:stretch>
        </p:blipFill>
        <p:spPr bwMode="auto">
          <a:xfrm>
            <a:off x="9785928" y="6082507"/>
            <a:ext cx="2143125" cy="58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61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57E0C-43CC-A0CE-8939-FC7DD28C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BA169D-FC1D-AB3A-9FBD-1D247968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Sidebar: What is Optimization?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FF75-BBA7-8CA7-5D40-5D355A891D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153D76-A1DF-6B24-4F6A-1C45A7B5CD4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384340B-8AF4-0045-985F-0107ADAFEF0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2104FB-2D08-6C0B-3F12-D87C44C442D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10896" y="1331268"/>
            <a:ext cx="6560438" cy="280297"/>
          </a:xfrm>
        </p:spPr>
        <p:txBody>
          <a:bodyPr/>
          <a:lstStyle/>
          <a:p>
            <a:r>
              <a:rPr lang="en-US" dirty="0"/>
              <a:t>Three sentence Summary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5E67AB-638D-4B3B-9546-1EAE1CC25A0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10896" y="1710524"/>
            <a:ext cx="6974324" cy="4444912"/>
          </a:xfrm>
        </p:spPr>
        <p:txBody>
          <a:bodyPr/>
          <a:lstStyle/>
          <a:p>
            <a:pPr marL="7938" indent="0">
              <a:buNone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Optimization is defined as:</a:t>
            </a:r>
          </a:p>
          <a:p>
            <a:pPr lvl="1">
              <a:buFontTx/>
              <a:buChar char="-"/>
            </a:pP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‘</a:t>
            </a:r>
            <a:r>
              <a:rPr lang="en-US" sz="22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action of making the best or most effective use of a situation or resource.’</a:t>
            </a:r>
          </a:p>
          <a:p>
            <a:pPr>
              <a:buFontTx/>
              <a:buChar char="-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Mathematics  / Operations Research:</a:t>
            </a:r>
            <a:r>
              <a:rPr lang="en-US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lvl="1">
              <a:buFontTx/>
              <a:buChar char="-"/>
            </a:pPr>
            <a:r>
              <a:rPr lang="en-US" sz="22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‘Maximizing or </a:t>
            </a:r>
            <a:r>
              <a:rPr lang="en-US" sz="2200" b="1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Minizing</a:t>
            </a:r>
            <a:r>
              <a:rPr lang="en-US" sz="22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real valued function by systematically choosing inputs and computing the value of the function’</a:t>
            </a:r>
          </a:p>
          <a:p>
            <a:pPr>
              <a:buFontTx/>
              <a:buChar char="-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example, lets take the simple function </a:t>
            </a: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f(x)=x^2</a:t>
            </a:r>
          </a:p>
          <a:p>
            <a:pPr lvl="1">
              <a:buFontTx/>
              <a:buChar char="-"/>
            </a:pP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Minimizing this function means picking the best x such that f(x) is the lowest value</a:t>
            </a:r>
          </a:p>
          <a:p>
            <a:pPr lvl="1">
              <a:buFontTx/>
              <a:buChar char="-"/>
            </a:pP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in the figure, just pick the lowest point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F77089-01EA-896D-50C0-B9CE71C323C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 dirty="0" err="1"/>
              <a:t>RecWell</a:t>
            </a:r>
            <a:r>
              <a:rPr lang="en-US" dirty="0"/>
              <a:t> - Intramurals</a:t>
            </a:r>
          </a:p>
        </p:txBody>
      </p:sp>
      <p:pic>
        <p:nvPicPr>
          <p:cNvPr id="2050" name="Picture 2" descr="My derivatives project - Home">
            <a:extLst>
              <a:ext uri="{FF2B5EF4-FFF2-40B4-BE49-F238E27FC236}">
                <a16:creationId xmlns:a16="http://schemas.microsoft.com/office/drawing/2014/main" id="{B5BD99F1-7D1C-711B-F773-283E7F3DE431}"/>
              </a:ext>
            </a:extLst>
          </p:cNvPr>
          <p:cNvPicPr>
            <a:picLocks noGrp="1" noChangeAspect="1" noChangeArrowheads="1"/>
          </p:cNvPicPr>
          <p:nvPr>
            <p:ph sz="quarter" idx="29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0" r="23204"/>
          <a:stretch>
            <a:fillRect/>
          </a:stretch>
        </p:blipFill>
        <p:spPr bwMode="auto">
          <a:xfrm>
            <a:off x="7787640" y="1615440"/>
            <a:ext cx="3916170" cy="437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12627AF-30E5-4757-9DCC-C4934CA95274}"/>
              </a:ext>
            </a:extLst>
          </p:cNvPr>
          <p:cNvSpPr/>
          <p:nvPr/>
        </p:nvSpPr>
        <p:spPr>
          <a:xfrm>
            <a:off x="9517380" y="5463540"/>
            <a:ext cx="396240" cy="3581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DCED2-D5C5-B647-6CB4-D48BBA18562F}"/>
              </a:ext>
            </a:extLst>
          </p:cNvPr>
          <p:cNvSpPr txBox="1"/>
          <p:nvPr/>
        </p:nvSpPr>
        <p:spPr>
          <a:xfrm>
            <a:off x="8491602" y="6088118"/>
            <a:ext cx="2447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X=0: </a:t>
            </a:r>
            <a:r>
              <a:rPr lang="en-US" dirty="0"/>
              <a:t>‘Optimal Value’</a:t>
            </a:r>
          </a:p>
        </p:txBody>
      </p:sp>
    </p:spTree>
    <p:extLst>
      <p:ext uri="{BB962C8B-B14F-4D97-AF65-F5344CB8AC3E}">
        <p14:creationId xmlns:p14="http://schemas.microsoft.com/office/powerpoint/2010/main" val="172401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EDB4-5521-D9A2-F72A-9AE6B2EB3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73B39E0-FDD3-D736-2B7E-1F45FD064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45" y="587870"/>
            <a:ext cx="10093896" cy="585903"/>
          </a:xfrm>
        </p:spPr>
        <p:txBody>
          <a:bodyPr/>
          <a:lstStyle/>
          <a:p>
            <a:r>
              <a:rPr lang="en-US" dirty="0"/>
              <a:t>Quick Sidebar: How does this relate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08F4890-B5C4-D8DF-6F29-94723779761E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/>
          <a:lstStyle/>
          <a:p>
            <a:fld id="{1384340B-8AF4-0045-985F-0107ADAFEF0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5E715B-4F38-647B-07BA-CBC7BA3E4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B42B8C9-32C4-4E4B-75D3-321F4E7ACA16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ln>
            <a:solidFill>
              <a:srgbClr val="881C1C"/>
            </a:solidFill>
          </a:ln>
        </p:spPr>
        <p:txBody>
          <a:bodyPr/>
          <a:lstStyle/>
          <a:p>
            <a:r>
              <a:rPr lang="en-US" dirty="0"/>
              <a:t>Define Constraints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D2C2A3D-9683-3431-A062-1941FE79DBBD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b="1" dirty="0"/>
              <a:t>must no </a:t>
            </a:r>
            <a:r>
              <a:rPr lang="en-US" dirty="0"/>
              <a:t>happen, regardless of schedule</a:t>
            </a:r>
          </a:p>
          <a:p>
            <a:r>
              <a:rPr lang="en-US" dirty="0"/>
              <a:t>- Ex: Officials must have availability for the time they’re working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C72D7F5-746E-F8BB-443D-6EF2CCA4F355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E22763C-BF07-B31F-2B3F-50C29BCC3EC0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en-US" dirty="0"/>
              <a:t>DEFINE</a:t>
            </a:r>
          </a:p>
          <a:p>
            <a:r>
              <a:rPr lang="en-US" dirty="0"/>
              <a:t>objective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3A87E6B-A923-7954-EDB0-080F51A80B0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r>
              <a:rPr lang="en-US" dirty="0"/>
              <a:t>Real-Valued function that represents </a:t>
            </a:r>
            <a:r>
              <a:rPr lang="en-US" b="1" dirty="0"/>
              <a:t>Goals </a:t>
            </a:r>
            <a:r>
              <a:rPr lang="en-US" dirty="0"/>
              <a:t>of the scheduling:</a:t>
            </a:r>
          </a:p>
          <a:p>
            <a:r>
              <a:rPr lang="en-US" dirty="0"/>
              <a:t>- Ex: Rewarding a balancing of hours between officials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AA8EC92-7414-7869-F241-52B5C3EE0EA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93BB5B5-4CBF-C65B-CA1E-3CC62B52BA0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ln>
            <a:solidFill>
              <a:srgbClr val="881C1C"/>
            </a:solidFill>
          </a:ln>
        </p:spPr>
        <p:txBody>
          <a:bodyPr/>
          <a:lstStyle/>
          <a:p>
            <a:r>
              <a:rPr lang="en-US" dirty="0" err="1"/>
              <a:t>SOLVe</a:t>
            </a:r>
            <a:r>
              <a:rPr lang="en-US" dirty="0"/>
              <a:t> FOR OPTIMAL SCHEDULE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FF257DE-6853-8054-36D3-E641F05AC8D8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r>
              <a:rPr lang="en-US" dirty="0"/>
              <a:t>Give to a </a:t>
            </a:r>
            <a:r>
              <a:rPr lang="en-US" b="1" dirty="0"/>
              <a:t>Solver</a:t>
            </a:r>
            <a:r>
              <a:rPr lang="en-US" dirty="0"/>
              <a:t> that finds the best input to your objective</a:t>
            </a:r>
          </a:p>
          <a:p>
            <a:r>
              <a:rPr lang="en-US" dirty="0"/>
              <a:t>- Just like finding </a:t>
            </a:r>
            <a:r>
              <a:rPr lang="en-US" b="1" dirty="0"/>
              <a:t>x=0 </a:t>
            </a:r>
            <a:r>
              <a:rPr lang="en-US" dirty="0"/>
              <a:t>on the last slide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C562EB-B067-F893-4361-18A90D70D9D7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CFA841A-6631-CB66-68E5-EEB26625E8EF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r>
              <a:rPr lang="en-US" dirty="0"/>
              <a:t>TRANSLATE TO BUISNESS DECISION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56AAF3A-F252-471C-6BFA-9683DA44D629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r>
              <a:rPr lang="en-US" dirty="0"/>
              <a:t>Translate to meaningful values that solve the problem</a:t>
            </a:r>
          </a:p>
          <a:p>
            <a:r>
              <a:rPr lang="en-US" dirty="0"/>
              <a:t>- Ex. Output a schedule for referees that covers the whole week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23EFDD55-9C84-3DFC-6D3E-46A6B5154EE2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dirty="0" err="1"/>
              <a:t>RecWell</a:t>
            </a:r>
            <a:r>
              <a:rPr lang="en-US" dirty="0"/>
              <a:t> - Intramurals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03709B2-7530-F1D1-24AC-E22B849912E8}"/>
              </a:ext>
            </a:extLst>
          </p:cNvPr>
          <p:cNvSpPr txBox="1">
            <a:spLocks/>
          </p:cNvSpPr>
          <p:nvPr/>
        </p:nvSpPr>
        <p:spPr>
          <a:xfrm>
            <a:off x="307245" y="1402237"/>
            <a:ext cx="11542172" cy="424296"/>
          </a:xfrm>
          <a:prstGeom prst="rect">
            <a:avLst/>
          </a:prstGeom>
        </p:spPr>
        <p:txBody>
          <a:bodyPr/>
          <a:lstStyle>
            <a:lvl1pPr marL="144463" indent="-136525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69875" indent="-1349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4813" indent="-1349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39750" indent="-1349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674688" indent="-1349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800" dirty="0"/>
              <a:t>In Operations Research, The process to </a:t>
            </a:r>
            <a:r>
              <a:rPr lang="en-US" sz="1800" b="1" dirty="0"/>
              <a:t>model and optimize is </a:t>
            </a:r>
            <a:endParaRPr lang="en-US" sz="1800" dirty="0"/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4C145D12-17EA-3070-96BC-10EB416026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4867" y="346588"/>
            <a:ext cx="10094976" cy="252412"/>
          </a:xfrm>
        </p:spPr>
        <p:txBody>
          <a:bodyPr/>
          <a:lstStyle/>
          <a:p>
            <a:r>
              <a:rPr lang="en-US" dirty="0"/>
              <a:t>Optimization</a:t>
            </a:r>
          </a:p>
        </p:txBody>
      </p:sp>
      <p:pic>
        <p:nvPicPr>
          <p:cNvPr id="5124" name="Picture 4" descr="FUNCTIONS;F(x) - Daily Math Guide">
            <a:extLst>
              <a:ext uri="{FF2B5EF4-FFF2-40B4-BE49-F238E27FC236}">
                <a16:creationId xmlns:a16="http://schemas.microsoft.com/office/drawing/2014/main" id="{4B54EF96-CD13-AEAC-5D41-615956A63A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" t="-3150" r="-360" b="27078"/>
          <a:stretch>
            <a:fillRect/>
          </a:stretch>
        </p:blipFill>
        <p:spPr bwMode="auto">
          <a:xfrm>
            <a:off x="4699850" y="1977010"/>
            <a:ext cx="686752" cy="42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FUNCTIONS;F(x) - Daily Math Guide">
            <a:extLst>
              <a:ext uri="{FF2B5EF4-FFF2-40B4-BE49-F238E27FC236}">
                <a16:creationId xmlns:a16="http://schemas.microsoft.com/office/drawing/2014/main" id="{C3FBC91D-D4A7-8763-6FC7-B4B71F6A70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" t="-3150" r="-360" b="27078"/>
          <a:stretch>
            <a:fillRect/>
          </a:stretch>
        </p:blipFill>
        <p:spPr bwMode="auto">
          <a:xfrm>
            <a:off x="7256321" y="1955533"/>
            <a:ext cx="686752" cy="42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FUNCTIONS;F(x) - Daily Math Guide">
            <a:extLst>
              <a:ext uri="{FF2B5EF4-FFF2-40B4-BE49-F238E27FC236}">
                <a16:creationId xmlns:a16="http://schemas.microsoft.com/office/drawing/2014/main" id="{14116F08-DC43-2A9B-58D9-26467E65E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14" t="17983" r="19309" b="35606"/>
          <a:stretch>
            <a:fillRect/>
          </a:stretch>
        </p:blipFill>
        <p:spPr bwMode="auto">
          <a:xfrm>
            <a:off x="1664271" y="2066739"/>
            <a:ext cx="220980" cy="27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C0E3EAD-A0D9-9471-C77C-9E4F2BEF9A97}"/>
              </a:ext>
            </a:extLst>
          </p:cNvPr>
          <p:cNvSpPr txBox="1"/>
          <p:nvPr/>
        </p:nvSpPr>
        <p:spPr>
          <a:xfrm>
            <a:off x="1877631" y="1980403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&lt; 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802814-7AA3-769F-4AAD-2E46E1E18E1A}"/>
              </a:ext>
            </a:extLst>
          </p:cNvPr>
          <p:cNvSpPr txBox="1"/>
          <p:nvPr/>
        </p:nvSpPr>
        <p:spPr>
          <a:xfrm>
            <a:off x="6353521" y="1993788"/>
            <a:ext cx="1129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max/min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3" name="Picture 4" descr="FUNCTIONS;F(x) - Daily Math Guide">
            <a:extLst>
              <a:ext uri="{FF2B5EF4-FFF2-40B4-BE49-F238E27FC236}">
                <a16:creationId xmlns:a16="http://schemas.microsoft.com/office/drawing/2014/main" id="{0E2DCFBC-EFA8-63EA-5E7C-B801E627F1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14" t="17983" r="19309" b="35606"/>
          <a:stretch>
            <a:fillRect/>
          </a:stretch>
        </p:blipFill>
        <p:spPr bwMode="auto">
          <a:xfrm>
            <a:off x="9166223" y="2056534"/>
            <a:ext cx="220980" cy="25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F3FE49A-B8E5-4A1A-6757-D54835E03DCE}"/>
              </a:ext>
            </a:extLst>
          </p:cNvPr>
          <p:cNvSpPr txBox="1"/>
          <p:nvPr/>
        </p:nvSpPr>
        <p:spPr>
          <a:xfrm>
            <a:off x="7876761" y="1993788"/>
            <a:ext cx="1399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over possible</a:t>
            </a:r>
          </a:p>
        </p:txBody>
      </p:sp>
      <p:pic>
        <p:nvPicPr>
          <p:cNvPr id="45" name="Picture 4" descr="FUNCTIONS;F(x) - Daily Math Guide">
            <a:extLst>
              <a:ext uri="{FF2B5EF4-FFF2-40B4-BE49-F238E27FC236}">
                <a16:creationId xmlns:a16="http://schemas.microsoft.com/office/drawing/2014/main" id="{DCBA98E8-E036-C75D-1C1D-DC5A21DB11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14" t="17983" r="19309" b="35606"/>
          <a:stretch>
            <a:fillRect/>
          </a:stretch>
        </p:blipFill>
        <p:spPr bwMode="auto">
          <a:xfrm>
            <a:off x="11243050" y="2053502"/>
            <a:ext cx="220980" cy="25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6F60A7B-8BCC-D9C7-91B6-DA70685B5151}"/>
              </a:ext>
            </a:extLst>
          </p:cNvPr>
          <p:cNvSpPr txBox="1"/>
          <p:nvPr/>
        </p:nvSpPr>
        <p:spPr>
          <a:xfrm>
            <a:off x="10032449" y="1993788"/>
            <a:ext cx="1323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display best</a:t>
            </a:r>
          </a:p>
        </p:txBody>
      </p:sp>
    </p:spTree>
    <p:extLst>
      <p:ext uri="{BB962C8B-B14F-4D97-AF65-F5344CB8AC3E}">
        <p14:creationId xmlns:p14="http://schemas.microsoft.com/office/powerpoint/2010/main" val="8788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C9AE-F286-D0E9-0ACB-E0CC2593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163BB04-A34C-B6DC-92D6-D8FD4B90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7A807-2CF3-7874-90C8-B58C312F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340B-8AF4-0045-985F-0107ADAFEF0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2513C8-E5C8-1ABD-A626-8DAEE9BA8D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4864" y="1073736"/>
            <a:ext cx="11542172" cy="5040311"/>
          </a:xfrm>
        </p:spPr>
        <p:txBody>
          <a:bodyPr/>
          <a:lstStyle/>
          <a:p>
            <a:pPr marL="7938" indent="0">
              <a:spcAft>
                <a:spcPts val="1200"/>
              </a:spcAft>
              <a:buNone/>
            </a:pP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Constraints and Objective:</a:t>
            </a:r>
          </a:p>
          <a:p>
            <a:pPr>
              <a:spcAft>
                <a:spcPts val="1200"/>
              </a:spcAft>
              <a:buFontTx/>
              <a:buChar char="-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 Constraints based on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hardset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rules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Must have 2-3 officials per game, scheduling for availability, keeping under 20 hours, etc.</a:t>
            </a:r>
          </a:p>
          <a:p>
            <a:pPr>
              <a:spcAft>
                <a:spcPts val="1200"/>
              </a:spcAft>
              <a:buFontTx/>
              <a:buChar char="-"/>
            </a:pP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 Objective on accepted goals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Weighted combination of: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Hours Balancing, Officials Effort, Officials Experience, Game Difficulty, and rewarding Large Time Blocks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Allow for custom weighting of objective based on PA’s needs</a:t>
            </a:r>
          </a:p>
          <a:p>
            <a:pPr marL="0" lvl="1" indent="0">
              <a:spcAft>
                <a:spcPts val="1200"/>
              </a:spcAft>
              <a:buNone/>
            </a:pP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Translate to business practices: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 an simple &amp; accessible that works based on </a:t>
            </a: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pre-existing excel format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 </a:t>
            </a: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preserves information security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(does not store information)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Scales for </a:t>
            </a: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leagues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 any future activities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157FC-BCCA-AB60-472E-E415B388B2E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err="1"/>
              <a:t>RecWell</a:t>
            </a:r>
            <a:r>
              <a:rPr lang="en-US" dirty="0"/>
              <a:t> - Intramurals</a:t>
            </a:r>
          </a:p>
        </p:txBody>
      </p:sp>
    </p:spTree>
    <p:extLst>
      <p:ext uri="{BB962C8B-B14F-4D97-AF65-F5344CB8AC3E}">
        <p14:creationId xmlns:p14="http://schemas.microsoft.com/office/powerpoint/2010/main" val="4268578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C517-9E55-8B47-657E-E58F408EA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Video / Real Demo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DC553-8344-E929-56E2-090F1A4E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340B-8AF4-0045-985F-0107ADAFEF01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9-21-Demo">
            <a:hlinkClick r:id="" action="ppaction://media"/>
            <a:extLst>
              <a:ext uri="{FF2B5EF4-FFF2-40B4-BE49-F238E27FC236}">
                <a16:creationId xmlns:a16="http://schemas.microsoft.com/office/drawing/2014/main" id="{6863A2EC-8815-87BD-7FC3-DAA306840712}"/>
              </a:ext>
            </a:extLst>
          </p:cNvPr>
          <p:cNvPicPr>
            <a:picLocks noGrp="1" noChangeAspect="1"/>
          </p:cNvPicPr>
          <p:nvPr>
            <p:ph sz="quarter" idx="10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4325" y="1384300"/>
            <a:ext cx="11542713" cy="4665663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59F15-4189-6DE9-5031-C9D953BC61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err="1"/>
              <a:t>RecWell</a:t>
            </a:r>
            <a:r>
              <a:rPr lang="en-US" dirty="0"/>
              <a:t> - Intramurals</a:t>
            </a:r>
          </a:p>
        </p:txBody>
      </p:sp>
    </p:spTree>
    <p:extLst>
      <p:ext uri="{BB962C8B-B14F-4D97-AF65-F5344CB8AC3E}">
        <p14:creationId xmlns:p14="http://schemas.microsoft.com/office/powerpoint/2010/main" val="178672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9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934A-C46D-E5FB-4178-B5DD0BE0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FC94D0B-F89A-ECEB-D973-7BFCB323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&amp; Future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37037-4E8F-2F6B-77F4-41B9B6F2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4340B-8AF4-0045-985F-0107ADAFEF0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4733B0-9060-83EA-4E27-F51A3FCAB9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4864" y="1325196"/>
            <a:ext cx="11542172" cy="5040311"/>
          </a:xfrm>
        </p:spPr>
        <p:txBody>
          <a:bodyPr/>
          <a:lstStyle/>
          <a:p>
            <a:pPr marL="7938" indent="0">
              <a:spcAft>
                <a:spcPts val="1200"/>
              </a:spcAft>
              <a:buNone/>
            </a:pPr>
            <a:r>
              <a:rPr lang="en-US" sz="2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Future:</a:t>
            </a:r>
          </a:p>
          <a:p>
            <a:pPr>
              <a:spcAft>
                <a:spcPts val="1200"/>
              </a:spcAft>
              <a:buFontTx/>
              <a:buChar char="-"/>
            </a:pPr>
            <a:r>
              <a:rPr lang="en-US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plan to add game location and excel input considerations, fusion play copy-paste integration, and to decrease scheduling time with problem compression techniques</a:t>
            </a:r>
          </a:p>
          <a:p>
            <a:pPr>
              <a:spcAft>
                <a:spcPts val="1200"/>
              </a:spcAft>
              <a:buFontTx/>
              <a:buChar char="-"/>
            </a:pPr>
            <a:r>
              <a:rPr lang="en-US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goal would be to deploy this on a </a:t>
            </a:r>
            <a:r>
              <a:rPr lang="en-US" sz="2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RecWell</a:t>
            </a:r>
            <a:r>
              <a:rPr lang="en-US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system on the intramural computers for </a:t>
            </a:r>
            <a:r>
              <a:rPr lang="en-US" sz="2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easy accessibility </a:t>
            </a:r>
            <a:r>
              <a:rPr lang="en-US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all future PAs. </a:t>
            </a:r>
            <a:r>
              <a:rPr lang="en-US" sz="2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7938" indent="0">
              <a:spcAft>
                <a:spcPts val="1200"/>
              </a:spcAft>
              <a:buNone/>
            </a:pPr>
            <a:r>
              <a:rPr lang="en-US" sz="2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Feedback:</a:t>
            </a:r>
          </a:p>
          <a:p>
            <a:pPr>
              <a:spcAft>
                <a:spcPts val="1200"/>
              </a:spcAft>
              <a:buFontTx/>
              <a:buChar char="-"/>
            </a:pPr>
            <a:r>
              <a:rPr lang="en-US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plan to continue to develop this in junction with feedback from PAs and Pro Staff, hopefully continuing to assess more needs as the year progresses.</a:t>
            </a:r>
          </a:p>
          <a:p>
            <a:pPr marL="7938" indent="0">
              <a:spcAft>
                <a:spcPts val="1200"/>
              </a:spcAft>
              <a:buNone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B78B2-2F91-8A69-321A-D615614A5D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RecWell - Intramurals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90FBD-A127-5F08-8CEB-FB74F70C40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340" y="241408"/>
            <a:ext cx="3108960" cy="1439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7180800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Massachusetts Amherst">
  <a:themeElements>
    <a:clrScheme name="Custom 1 1">
      <a:dk1>
        <a:srgbClr val="000000"/>
      </a:dk1>
      <a:lt1>
        <a:srgbClr val="FFFFFF"/>
      </a:lt1>
      <a:dk2>
        <a:srgbClr val="881C1C"/>
      </a:dk2>
      <a:lt2>
        <a:srgbClr val="FFFFFF"/>
      </a:lt2>
      <a:accent1>
        <a:srgbClr val="881C1C"/>
      </a:accent1>
      <a:accent2>
        <a:srgbClr val="000000"/>
      </a:accent2>
      <a:accent3>
        <a:srgbClr val="615E9B"/>
      </a:accent3>
      <a:accent4>
        <a:srgbClr val="FF9D1A"/>
      </a:accent4>
      <a:accent5>
        <a:srgbClr val="00B1CA"/>
      </a:accent5>
      <a:accent6>
        <a:srgbClr val="FFC72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MA_Powerpoint Template" id="{59525C33-98DC-B741-A1CF-2DC97EFC782C}" vid="{9EC7D830-FA18-7745-AEC4-2AB1284C37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f09546-10f3-4db2-86e8-65d8f8611654">
      <Terms xmlns="http://schemas.microsoft.com/office/infopath/2007/PartnerControls"/>
    </lcf76f155ced4ddcb4097134ff3c332f>
    <TaxCatchAll xmlns="6a7329e4-cc2b-4970-bd9e-6502082921d9" xsi:nil="true"/>
    <SharedWithUsers xmlns="6a7329e4-cc2b-4970-bd9e-6502082921d9">
      <UserInfo>
        <DisplayName>Joyce Chan</DisplayName>
        <AccountId>26</AccountId>
        <AccountType/>
      </UserInfo>
      <UserInfo>
        <DisplayName>Surbhi Mathur</DisplayName>
        <AccountId>28</AccountId>
        <AccountType/>
      </UserInfo>
      <UserInfo>
        <DisplayName>Jennifer Hariman</DisplayName>
        <AccountId>27</AccountId>
        <AccountType/>
      </UserInfo>
      <UserInfo>
        <DisplayName>Janet Choi</DisplayName>
        <AccountId>21</AccountId>
        <AccountType/>
      </UserInfo>
      <UserInfo>
        <DisplayName>Elizabeth Arpide</DisplayName>
        <AccountId>9013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D063765061D244A4E8F28AF4DA2B47" ma:contentTypeVersion="15" ma:contentTypeDescription="Create a new document." ma:contentTypeScope="" ma:versionID="c566125832367e244e0fd03a016217dd">
  <xsd:schema xmlns:xsd="http://www.w3.org/2001/XMLSchema" xmlns:xs="http://www.w3.org/2001/XMLSchema" xmlns:p="http://schemas.microsoft.com/office/2006/metadata/properties" xmlns:ns2="94f09546-10f3-4db2-86e8-65d8f8611654" xmlns:ns3="6a7329e4-cc2b-4970-bd9e-6502082921d9" targetNamespace="http://schemas.microsoft.com/office/2006/metadata/properties" ma:root="true" ma:fieldsID="7daf44959ea4be1c2bdff20402ed4b38" ns2:_="" ns3:_="">
    <xsd:import namespace="94f09546-10f3-4db2-86e8-65d8f8611654"/>
    <xsd:import namespace="6a7329e4-cc2b-4970-bd9e-6502082921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f09546-10f3-4db2-86e8-65d8f86116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116df305-adfd-4c0b-944e-20c5738546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329e4-cc2b-4970-bd9e-6502082921d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f5623cc-a0af-4128-803a-e1b6240dcc02}" ma:internalName="TaxCatchAll" ma:showField="CatchAllData" ma:web="6a7329e4-cc2b-4970-bd9e-6502082921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B9EE64-34B9-483A-938D-27349CFA89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2EE067-7BBE-4A01-A66D-7A2E03BE1C1B}">
  <ds:schemaRefs>
    <ds:schemaRef ds:uri="http://schemas.microsoft.com/sharepoint/v3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815a20d1-38b0-43c4-8b87-0ea2d0614826"/>
    <ds:schemaRef ds:uri="http://purl.org/dc/elements/1.1/"/>
    <ds:schemaRef ds:uri="http://www.w3.org/XML/1998/namespace"/>
    <ds:schemaRef ds:uri="http://schemas.microsoft.com/office/2006/documentManagement/types"/>
    <ds:schemaRef ds:uri="76927355-584f-4bc3-9b09-55987a89d7dc"/>
    <ds:schemaRef ds:uri="http://schemas.microsoft.com/office/2006/metadata/properties"/>
    <ds:schemaRef ds:uri="http://purl.org/dc/dcmitype/"/>
    <ds:schemaRef ds:uri="94f09546-10f3-4db2-86e8-65d8f8611654"/>
    <ds:schemaRef ds:uri="6a7329e4-cc2b-4970-bd9e-6502082921d9"/>
  </ds:schemaRefs>
</ds:datastoreItem>
</file>

<file path=customXml/itemProps3.xml><?xml version="1.0" encoding="utf-8"?>
<ds:datastoreItem xmlns:ds="http://schemas.openxmlformats.org/officeDocument/2006/customXml" ds:itemID="{E352A725-3D3A-4838-88EF-7AC2262BBC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f09546-10f3-4db2-86e8-65d8f8611654"/>
    <ds:schemaRef ds:uri="6a7329e4-cc2b-4970-bd9e-6502082921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UMA_Powerpoint Template</Template>
  <TotalTime>82</TotalTime>
  <Words>590</Words>
  <Application>Microsoft Office PowerPoint</Application>
  <PresentationFormat>Widescreen</PresentationFormat>
  <Paragraphs>90</Paragraphs>
  <Slides>8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Baskerville</vt:lpstr>
      <vt:lpstr>Calibri</vt:lpstr>
      <vt:lpstr>Cambria</vt:lpstr>
      <vt:lpstr>Helvetica</vt:lpstr>
      <vt:lpstr>Helvetica Light</vt:lpstr>
      <vt:lpstr>Roboto</vt:lpstr>
      <vt:lpstr>University of Massachusetts Amherst</vt:lpstr>
      <vt:lpstr>Intramural Scheduling Optimization UMass RecWell</vt:lpstr>
      <vt:lpstr>PowerPoint Presentation</vt:lpstr>
      <vt:lpstr>Our Problem</vt:lpstr>
      <vt:lpstr>Quick Sidebar: What is Optimization?</vt:lpstr>
      <vt:lpstr>Quick Sidebar: How does this relate</vt:lpstr>
      <vt:lpstr>My Solution</vt:lpstr>
      <vt:lpstr>Demo Video / Real Demo</vt:lpstr>
      <vt:lpstr>Feedback &amp;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Fairbanks</dc:creator>
  <cp:lastModifiedBy>Austin Fairbanks</cp:lastModifiedBy>
  <cp:revision>1</cp:revision>
  <dcterms:created xsi:type="dcterms:W3CDTF">2025-09-26T17:09:23Z</dcterms:created>
  <dcterms:modified xsi:type="dcterms:W3CDTF">2025-09-26T18:32:21Z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0x0101005DD063765061D244A4E8F28AF4DA2B47</vt:lpwstr>
  </property>
  <property fmtid="{D5CDD505-2E9C-101B-9397-08002B2CF9AE}" pid="3" name="MediaServiceImageTags">
    <vt:lpwstr/>
  </property>
</Properties>
</file>